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Heebo" panose="020F0502020204030204" pitchFamily="2" charset="-79"/>
      <p:regular r:id="rId23"/>
    </p:embeddedFont>
    <p:embeddedFont>
      <p:font typeface="Heebo Bold" panose="020B0604020202020204" charset="-79"/>
      <p:regular r:id="rId24"/>
    </p:embeddedFont>
    <p:embeddedFont>
      <p:font typeface="Heebo Light" panose="020F0502020204030204" pitchFamily="2" charset="-79"/>
      <p:regular r:id="rId25"/>
    </p:embeddedFont>
    <p:embeddedFont>
      <p:font typeface="Heebo Medium" panose="020F0502020204030204" pitchFamily="2" charset="-79"/>
      <p:regular r:id="rId26"/>
    </p:embeddedFont>
    <p:embeddedFont>
      <p:font typeface="Montserrat" panose="00000500000000000000" pitchFamily="2" charset="0"/>
      <p:regular r:id="rId27"/>
    </p:embeddedFont>
    <p:embeddedFont>
      <p:font typeface="Montserrat Light" panose="020F0502020204030204" pitchFamily="2" charset="0"/>
      <p:regular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  <p:embeddedFont>
      <p:font typeface="Open Sans" panose="020B0606030504020204" pitchFamily="3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82" d="100"/>
          <a:sy n="82" d="100"/>
        </p:scale>
        <p:origin x="691" y="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F5C89-76CF-4815-9B94-602CE1AC92A0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462BA-2CA9-40E2-903C-42F32B198D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45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462BA-2CA9-40E2-903C-42F32B198DF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983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13.png"/><Relationship Id="rId7" Type="http://schemas.openxmlformats.org/officeDocument/2006/relationships/image" Target="../media/image28.svg"/><Relationship Id="rId12" Type="http://schemas.openxmlformats.org/officeDocument/2006/relationships/image" Target="../media/image3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5" Type="http://schemas.openxmlformats.org/officeDocument/2006/relationships/image" Target="../media/image36.svg"/><Relationship Id="rId10" Type="http://schemas.openxmlformats.org/officeDocument/2006/relationships/image" Target="../media/image31.svg"/><Relationship Id="rId4" Type="http://schemas.openxmlformats.org/officeDocument/2006/relationships/image" Target="../media/image14.svg"/><Relationship Id="rId9" Type="http://schemas.openxmlformats.org/officeDocument/2006/relationships/image" Target="../media/image30.svg"/><Relationship Id="rId14" Type="http://schemas.openxmlformats.org/officeDocument/2006/relationships/image" Target="../media/image3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2.svg"/><Relationship Id="rId7" Type="http://schemas.openxmlformats.org/officeDocument/2006/relationships/image" Target="../media/image40.svg"/><Relationship Id="rId12" Type="http://schemas.openxmlformats.org/officeDocument/2006/relationships/image" Target="../media/image4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svg"/><Relationship Id="rId5" Type="http://schemas.openxmlformats.org/officeDocument/2006/relationships/image" Target="../media/image14.svg"/><Relationship Id="rId10" Type="http://schemas.openxmlformats.org/officeDocument/2006/relationships/image" Target="../media/image43.png"/><Relationship Id="rId4" Type="http://schemas.openxmlformats.org/officeDocument/2006/relationships/image" Target="../media/image13.png"/><Relationship Id="rId9" Type="http://schemas.openxmlformats.org/officeDocument/2006/relationships/image" Target="../media/image4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D0A2C">
                <a:alpha val="89804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762" y="0"/>
            <a:ext cx="12187238" cy="6858000"/>
            <a:chOff x="0" y="0"/>
            <a:chExt cx="1624965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249650" cy="9144000"/>
            </a:xfrm>
            <a:custGeom>
              <a:avLst/>
              <a:gdLst/>
              <a:ahLst/>
              <a:cxnLst/>
              <a:rect l="l" t="t" r="r" b="b"/>
              <a:pathLst>
                <a:path w="16249650" h="9144000">
                  <a:moveTo>
                    <a:pt x="0" y="0"/>
                  </a:moveTo>
                  <a:lnTo>
                    <a:pt x="16249650" y="0"/>
                  </a:lnTo>
                  <a:lnTo>
                    <a:pt x="1624965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1540" y="1892141"/>
            <a:ext cx="4952000" cy="116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372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Urban Mobility Data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8728" y="3240024"/>
            <a:ext cx="117929" cy="266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533" i="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6681" y="3240024"/>
            <a:ext cx="3788854" cy="266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533" i="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SQL-Based</a:t>
            </a:r>
            <a:r>
              <a:rPr lang="en-US" sz="1533" i="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533" i="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Database</a:t>
            </a:r>
            <a:r>
              <a:rPr lang="en-US" sz="1533" i="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533" i="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Analysis</a:t>
            </a:r>
            <a:r>
              <a:rPr lang="en-US" sz="1533" i="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533" i="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Using</a:t>
            </a:r>
            <a:r>
              <a:rPr lang="en-US" sz="1533" i="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533" i="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MySQL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1540" y="3725208"/>
            <a:ext cx="6254753" cy="601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488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Presented by: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Ananya Gadodia  |  </a:t>
            </a:r>
            <a:r>
              <a:rPr lang="en-US" sz="1488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Course: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Data Analytics  |  </a:t>
            </a:r>
            <a:r>
              <a:rPr lang="en-US" sz="1488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Tools: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MySQL Workbench ·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D0A2C">
                <a:alpha val="89804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2019300"/>
            <a:ext cx="5740156" cy="3825183"/>
            <a:chOff x="0" y="0"/>
            <a:chExt cx="7653541" cy="51002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53655" cy="5100320"/>
            </a:xfrm>
            <a:custGeom>
              <a:avLst/>
              <a:gdLst/>
              <a:ahLst/>
              <a:cxnLst/>
              <a:rect l="l" t="t" r="r" b="b"/>
              <a:pathLst>
                <a:path w="7653655" h="5100320">
                  <a:moveTo>
                    <a:pt x="73025" y="0"/>
                  </a:moveTo>
                  <a:cubicBezTo>
                    <a:pt x="63373" y="0"/>
                    <a:pt x="53975" y="1905"/>
                    <a:pt x="45085" y="5588"/>
                  </a:cubicBezTo>
                  <a:cubicBezTo>
                    <a:pt x="36195" y="9271"/>
                    <a:pt x="28194" y="14605"/>
                    <a:pt x="21336" y="21463"/>
                  </a:cubicBezTo>
                  <a:cubicBezTo>
                    <a:pt x="14478" y="28321"/>
                    <a:pt x="9271" y="36195"/>
                    <a:pt x="5588" y="45085"/>
                  </a:cubicBezTo>
                  <a:cubicBezTo>
                    <a:pt x="1905" y="53975"/>
                    <a:pt x="0" y="63373"/>
                    <a:pt x="0" y="73025"/>
                  </a:cubicBezTo>
                  <a:lnTo>
                    <a:pt x="0" y="5032375"/>
                  </a:lnTo>
                  <a:cubicBezTo>
                    <a:pt x="0" y="5042027"/>
                    <a:pt x="1905" y="5051298"/>
                    <a:pt x="5588" y="5060315"/>
                  </a:cubicBezTo>
                  <a:cubicBezTo>
                    <a:pt x="9271" y="5069332"/>
                    <a:pt x="14605" y="5077206"/>
                    <a:pt x="21463" y="5084064"/>
                  </a:cubicBezTo>
                  <a:cubicBezTo>
                    <a:pt x="28321" y="5090922"/>
                    <a:pt x="36195" y="5096129"/>
                    <a:pt x="45212" y="5099939"/>
                  </a:cubicBezTo>
                  <a:cubicBezTo>
                    <a:pt x="45593" y="5100066"/>
                    <a:pt x="45847" y="5100193"/>
                    <a:pt x="46228" y="5100320"/>
                  </a:cubicBezTo>
                  <a:lnTo>
                    <a:pt x="7611999" y="5100320"/>
                  </a:lnTo>
                  <a:cubicBezTo>
                    <a:pt x="7612380" y="5100193"/>
                    <a:pt x="7612634" y="5100066"/>
                    <a:pt x="7613015" y="5099939"/>
                  </a:cubicBezTo>
                  <a:cubicBezTo>
                    <a:pt x="7621905" y="5096256"/>
                    <a:pt x="7629906" y="5090922"/>
                    <a:pt x="7636764" y="5084064"/>
                  </a:cubicBezTo>
                  <a:cubicBezTo>
                    <a:pt x="7643622" y="5077206"/>
                    <a:pt x="7648829" y="5069332"/>
                    <a:pt x="7652639" y="5060315"/>
                  </a:cubicBezTo>
                  <a:cubicBezTo>
                    <a:pt x="7653020" y="5059426"/>
                    <a:pt x="7653274" y="5058664"/>
                    <a:pt x="7653655" y="5057775"/>
                  </a:cubicBezTo>
                  <a:lnTo>
                    <a:pt x="7653655" y="47625"/>
                  </a:lnTo>
                  <a:cubicBezTo>
                    <a:pt x="7653401" y="46736"/>
                    <a:pt x="7653020" y="45974"/>
                    <a:pt x="7652639" y="45085"/>
                  </a:cubicBezTo>
                  <a:cubicBezTo>
                    <a:pt x="7648956" y="36195"/>
                    <a:pt x="7643622" y="28194"/>
                    <a:pt x="7636764" y="21336"/>
                  </a:cubicBezTo>
                  <a:cubicBezTo>
                    <a:pt x="7629906" y="14478"/>
                    <a:pt x="7621905" y="9271"/>
                    <a:pt x="7613015" y="5588"/>
                  </a:cubicBezTo>
                  <a:cubicBezTo>
                    <a:pt x="7604125" y="1905"/>
                    <a:pt x="7594727" y="0"/>
                    <a:pt x="7585075" y="0"/>
                  </a:cubicBezTo>
                  <a:close/>
                </a:path>
              </a:pathLst>
            </a:custGeom>
            <a:blipFill>
              <a:blip r:embed="rId3"/>
              <a:stretch>
                <a:fillRect r="-58" b="-9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61540" y="543611"/>
            <a:ext cx="3389128" cy="538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081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Project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6815" y="1235307"/>
            <a:ext cx="39052" cy="22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232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1540" y="1235307"/>
            <a:ext cx="10691336" cy="22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232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Thisprojectanalyzesanurbanmobilitydatabasespanning eight interconnected tables — users, drivers, vehicles, cities, rides, payments, promotions, and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1540" y="1463907"/>
            <a:ext cx="1344406" cy="22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232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ratings &amp; feedback.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4036" y="3683232"/>
            <a:ext cx="3491998" cy="115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32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Use SQL to transform raw mobility data into meaningful operational and business insights — examining ride performance, user behavior, driver activity, and revenue patterns across cities and vehicle categories.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84036" y="3357905"/>
            <a:ext cx="1462964" cy="273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54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Core 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3503" y="-63503"/>
            <a:ext cx="12318997" cy="6984997"/>
            <a:chOff x="0" y="0"/>
            <a:chExt cx="12319000" cy="6985000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D0A2C">
                <a:alpha val="89804"/>
              </a:srgbClr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720725" y="587375"/>
              <a:ext cx="1638300" cy="238125"/>
            </a:xfrm>
            <a:custGeom>
              <a:avLst/>
              <a:gdLst/>
              <a:ahLst/>
              <a:cxnLst/>
              <a:rect l="l" t="t" r="r" b="b"/>
              <a:pathLst>
                <a:path w="1638300" h="238125">
                  <a:moveTo>
                    <a:pt x="0" y="193421"/>
                  </a:moveTo>
                  <a:lnTo>
                    <a:pt x="0" y="44704"/>
                  </a:lnTo>
                  <a:cubicBezTo>
                    <a:pt x="0" y="38735"/>
                    <a:pt x="1143" y="33147"/>
                    <a:pt x="3429" y="27559"/>
                  </a:cubicBezTo>
                  <a:cubicBezTo>
                    <a:pt x="5715" y="21971"/>
                    <a:pt x="8890" y="17272"/>
                    <a:pt x="13081" y="13081"/>
                  </a:cubicBezTo>
                  <a:cubicBezTo>
                    <a:pt x="17272" y="8890"/>
                    <a:pt x="22098" y="5715"/>
                    <a:pt x="27559" y="3429"/>
                  </a:cubicBezTo>
                  <a:cubicBezTo>
                    <a:pt x="33020" y="1143"/>
                    <a:pt x="38735" y="0"/>
                    <a:pt x="44704" y="0"/>
                  </a:cubicBezTo>
                  <a:lnTo>
                    <a:pt x="1593596" y="0"/>
                  </a:lnTo>
                  <a:cubicBezTo>
                    <a:pt x="1599565" y="0"/>
                    <a:pt x="1605153" y="1143"/>
                    <a:pt x="1610741" y="3429"/>
                  </a:cubicBezTo>
                  <a:cubicBezTo>
                    <a:pt x="1616329" y="5715"/>
                    <a:pt x="1621028" y="8890"/>
                    <a:pt x="1625219" y="13081"/>
                  </a:cubicBezTo>
                  <a:cubicBezTo>
                    <a:pt x="1629410" y="17272"/>
                    <a:pt x="1632585" y="22098"/>
                    <a:pt x="1634871" y="27559"/>
                  </a:cubicBezTo>
                  <a:cubicBezTo>
                    <a:pt x="1637157" y="33020"/>
                    <a:pt x="1638300" y="38735"/>
                    <a:pt x="1638300" y="44704"/>
                  </a:cubicBezTo>
                  <a:lnTo>
                    <a:pt x="1638300" y="193421"/>
                  </a:lnTo>
                  <a:cubicBezTo>
                    <a:pt x="1638300" y="199390"/>
                    <a:pt x="1637157" y="204978"/>
                    <a:pt x="1634871" y="210566"/>
                  </a:cubicBezTo>
                  <a:cubicBezTo>
                    <a:pt x="1632585" y="216154"/>
                    <a:pt x="1629410" y="220853"/>
                    <a:pt x="1625219" y="225044"/>
                  </a:cubicBezTo>
                  <a:cubicBezTo>
                    <a:pt x="1621028" y="229235"/>
                    <a:pt x="1616202" y="232410"/>
                    <a:pt x="1610741" y="234696"/>
                  </a:cubicBezTo>
                  <a:cubicBezTo>
                    <a:pt x="1605280" y="236982"/>
                    <a:pt x="1599565" y="238125"/>
                    <a:pt x="1593596" y="238125"/>
                  </a:cubicBezTo>
                  <a:lnTo>
                    <a:pt x="44704" y="238125"/>
                  </a:lnTo>
                  <a:cubicBezTo>
                    <a:pt x="38735" y="238125"/>
                    <a:pt x="33147" y="236982"/>
                    <a:pt x="27559" y="234696"/>
                  </a:cubicBezTo>
                  <a:cubicBezTo>
                    <a:pt x="21971" y="232410"/>
                    <a:pt x="17272" y="229235"/>
                    <a:pt x="13081" y="225044"/>
                  </a:cubicBezTo>
                  <a:cubicBezTo>
                    <a:pt x="8890" y="220853"/>
                    <a:pt x="5715" y="216027"/>
                    <a:pt x="3429" y="210566"/>
                  </a:cubicBezTo>
                  <a:cubicBezTo>
                    <a:pt x="1143" y="205105"/>
                    <a:pt x="0" y="199390"/>
                    <a:pt x="0" y="193421"/>
                  </a:cubicBezTo>
                  <a:close/>
                </a:path>
              </a:pathLst>
            </a:custGeom>
            <a:solidFill>
              <a:srgbClr val="1E0C4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296025" y="1666875"/>
            <a:ext cx="4419600" cy="4419600"/>
            <a:chOff x="0" y="0"/>
            <a:chExt cx="5892800" cy="589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92800" cy="5892800"/>
            </a:xfrm>
            <a:custGeom>
              <a:avLst/>
              <a:gdLst/>
              <a:ahLst/>
              <a:cxnLst/>
              <a:rect l="l" t="t" r="r" b="b"/>
              <a:pathLst>
                <a:path w="5892800" h="5892800">
                  <a:moveTo>
                    <a:pt x="74422" y="0"/>
                  </a:moveTo>
                  <a:cubicBezTo>
                    <a:pt x="64516" y="0"/>
                    <a:pt x="55118" y="1905"/>
                    <a:pt x="45974" y="5715"/>
                  </a:cubicBezTo>
                  <a:cubicBezTo>
                    <a:pt x="36830" y="9525"/>
                    <a:pt x="28829" y="14859"/>
                    <a:pt x="21844" y="21844"/>
                  </a:cubicBezTo>
                  <a:cubicBezTo>
                    <a:pt x="14859" y="28829"/>
                    <a:pt x="9398" y="36830"/>
                    <a:pt x="5715" y="45974"/>
                  </a:cubicBezTo>
                  <a:cubicBezTo>
                    <a:pt x="2032" y="55118"/>
                    <a:pt x="0" y="64516"/>
                    <a:pt x="0" y="74295"/>
                  </a:cubicBezTo>
                  <a:lnTo>
                    <a:pt x="0" y="5818505"/>
                  </a:lnTo>
                  <a:cubicBezTo>
                    <a:pt x="0" y="5828284"/>
                    <a:pt x="1905" y="5837809"/>
                    <a:pt x="5715" y="5846826"/>
                  </a:cubicBezTo>
                  <a:cubicBezTo>
                    <a:pt x="9525" y="5855843"/>
                    <a:pt x="14859" y="5863971"/>
                    <a:pt x="21844" y="5870956"/>
                  </a:cubicBezTo>
                  <a:cubicBezTo>
                    <a:pt x="28829" y="5877941"/>
                    <a:pt x="36830" y="5883275"/>
                    <a:pt x="45974" y="5887085"/>
                  </a:cubicBezTo>
                  <a:cubicBezTo>
                    <a:pt x="55118" y="5890895"/>
                    <a:pt x="64643" y="5892800"/>
                    <a:pt x="74422" y="5892800"/>
                  </a:cubicBezTo>
                  <a:lnTo>
                    <a:pt x="5818378" y="5892800"/>
                  </a:lnTo>
                  <a:cubicBezTo>
                    <a:pt x="5828284" y="5892800"/>
                    <a:pt x="5837682" y="5890895"/>
                    <a:pt x="5846826" y="5887085"/>
                  </a:cubicBezTo>
                  <a:cubicBezTo>
                    <a:pt x="5855970" y="5883275"/>
                    <a:pt x="5863971" y="5877941"/>
                    <a:pt x="5870956" y="5870956"/>
                  </a:cubicBezTo>
                  <a:cubicBezTo>
                    <a:pt x="5877941" y="5863971"/>
                    <a:pt x="5883275" y="5855970"/>
                    <a:pt x="5887085" y="5846826"/>
                  </a:cubicBezTo>
                  <a:cubicBezTo>
                    <a:pt x="5890895" y="5837682"/>
                    <a:pt x="5892800" y="5828157"/>
                    <a:pt x="5892800" y="5818378"/>
                  </a:cubicBezTo>
                  <a:lnTo>
                    <a:pt x="5892800" y="74422"/>
                  </a:lnTo>
                  <a:cubicBezTo>
                    <a:pt x="5892800" y="64516"/>
                    <a:pt x="5890895" y="55118"/>
                    <a:pt x="5887085" y="45974"/>
                  </a:cubicBezTo>
                  <a:cubicBezTo>
                    <a:pt x="5883275" y="36830"/>
                    <a:pt x="5877941" y="28829"/>
                    <a:pt x="5870956" y="21844"/>
                  </a:cubicBezTo>
                  <a:cubicBezTo>
                    <a:pt x="5863971" y="14859"/>
                    <a:pt x="5855970" y="9525"/>
                    <a:pt x="5846826" y="5715"/>
                  </a:cubicBezTo>
                  <a:cubicBezTo>
                    <a:pt x="5837682" y="1905"/>
                    <a:pt x="5828284" y="0"/>
                    <a:pt x="5818378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57085" y="522856"/>
            <a:ext cx="1471041" cy="1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"/>
              </a:lnSpc>
            </a:pPr>
            <a:r>
              <a:rPr lang="en-US" sz="100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PROBLEM &amp; OBJECTIVES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1540" y="852345"/>
            <a:ext cx="6653774" cy="53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3139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1540" y="3965867"/>
            <a:ext cx="4058174" cy="117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• Managing interconnected mobility datasets</a:t>
            </a:r>
          </a:p>
          <a:p>
            <a:pPr algn="l">
              <a:lnSpc>
                <a:spcPts val="1859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• Handling complex table relationships</a:t>
            </a:r>
          </a:p>
          <a:p>
            <a:pPr algn="l">
              <a:lnSpc>
                <a:spcPts val="1859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• Ensuring data accuracy and consistency</a:t>
            </a:r>
          </a:p>
          <a:p>
            <a:pPr algn="l">
              <a:lnSpc>
                <a:spcPts val="1859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• Comparing performance across cities and vehicle types • Converting SQL results into actionable insights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1540" y="2546642"/>
            <a:ext cx="5050250" cy="93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Urban mobility platforms generate large volumes of data across users, rides, drivers, vehicles, and payments. Manually analyzing these interconnected datasets is impractical — SQL provides a structured, repeatable approach to retrieve, compare, and derive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3503" y="-63503"/>
            <a:ext cx="12318997" cy="6984997"/>
          </a:xfrm>
          <a:custGeom>
            <a:avLst/>
            <a:gdLst/>
            <a:ahLst/>
            <a:cxnLst/>
            <a:rect l="l" t="t" r="r" b="b"/>
            <a:pathLst>
              <a:path w="12318997" h="6984997">
                <a:moveTo>
                  <a:pt x="0" y="0"/>
                </a:moveTo>
                <a:lnTo>
                  <a:pt x="12318997" y="0"/>
                </a:lnTo>
                <a:lnTo>
                  <a:pt x="12318997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3163" y="510007"/>
            <a:ext cx="967369" cy="21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11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TECHNOLOGY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1540" y="916657"/>
            <a:ext cx="4166102" cy="627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7"/>
              </a:lnSpc>
            </a:pPr>
            <a:r>
              <a:rPr lang="en-US" sz="3662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Technology Stack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1540" y="2491950"/>
            <a:ext cx="3514696" cy="98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183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MySQL</a:t>
            </a:r>
          </a:p>
          <a:p>
            <a:pPr algn="l">
              <a:lnSpc>
                <a:spcPts val="2324"/>
              </a:lnSpc>
            </a:pPr>
            <a:r>
              <a:rPr lang="en-US" sz="146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Relational database engine for storing and querying all mobility data.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1540" y="4939875"/>
            <a:ext cx="3487226" cy="1270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183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EER Diagram</a:t>
            </a:r>
          </a:p>
          <a:p>
            <a:pPr algn="l">
              <a:lnSpc>
                <a:spcPts val="2324"/>
              </a:lnSpc>
            </a:pPr>
            <a:r>
              <a:rPr lang="en-US" sz="146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Reverse-engineeredschema visualization showing keys, relationships, and constraints.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72703" y="5347573"/>
            <a:ext cx="46415" cy="25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46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60812" y="4977975"/>
            <a:ext cx="1501921" cy="31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3"/>
              </a:lnSpc>
            </a:pPr>
            <a:r>
              <a:rPr lang="en-US" sz="183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SQL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89381" y="5347573"/>
            <a:ext cx="46415" cy="25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46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60812" y="2491950"/>
            <a:ext cx="3373822" cy="127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183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MySQL Workbench</a:t>
            </a:r>
          </a:p>
          <a:p>
            <a:pPr algn="l">
              <a:lnSpc>
                <a:spcPts val="2324"/>
              </a:lnSpc>
            </a:pPr>
            <a:r>
              <a:rPr lang="en-US" sz="146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Primaryenvironment for writing queries, visualizing schemas, and reverse engineering.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07361" y="2909173"/>
            <a:ext cx="46415" cy="25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46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60084" y="2530050"/>
            <a:ext cx="1969522" cy="31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3"/>
              </a:lnSpc>
            </a:pPr>
            <a:r>
              <a:rPr lang="en-US" sz="183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8 Mobility Tables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17181" y="2909173"/>
            <a:ext cx="46415" cy="25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46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60812" y="5347573"/>
            <a:ext cx="3558721" cy="25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46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Aggregations,joins,subqueries, CTEs, and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60812" y="5614273"/>
            <a:ext cx="2676735" cy="57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6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window functions for deep data exploration.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60084" y="2909173"/>
            <a:ext cx="2992946" cy="25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46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Structureddatasetscovering users,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60084" y="3175873"/>
            <a:ext cx="3333293" cy="57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6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drivers, vehicles, cities, rides, payments, promotions, and ratings.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3503" y="-63503"/>
            <a:ext cx="12318997" cy="6984997"/>
            <a:chOff x="0" y="0"/>
            <a:chExt cx="12319000" cy="6985000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D0A2C">
                <a:alpha val="89804"/>
              </a:srgbClr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720598" y="587248"/>
              <a:ext cx="1229106" cy="266954"/>
            </a:xfrm>
            <a:custGeom>
              <a:avLst/>
              <a:gdLst/>
              <a:ahLst/>
              <a:cxnLst/>
              <a:rect l="l" t="t" r="r" b="b"/>
              <a:pathLst>
                <a:path w="1229106" h="266954">
                  <a:moveTo>
                    <a:pt x="127" y="216408"/>
                  </a:moveTo>
                  <a:lnTo>
                    <a:pt x="127" y="50546"/>
                  </a:lnTo>
                  <a:cubicBezTo>
                    <a:pt x="127" y="47244"/>
                    <a:pt x="508" y="43942"/>
                    <a:pt x="1143" y="40767"/>
                  </a:cubicBezTo>
                  <a:cubicBezTo>
                    <a:pt x="1778" y="37592"/>
                    <a:pt x="2794" y="34417"/>
                    <a:pt x="4064" y="31242"/>
                  </a:cubicBezTo>
                  <a:cubicBezTo>
                    <a:pt x="5334" y="28067"/>
                    <a:pt x="6858" y="25273"/>
                    <a:pt x="8763" y="22479"/>
                  </a:cubicBezTo>
                  <a:cubicBezTo>
                    <a:pt x="10668" y="19685"/>
                    <a:pt x="12700" y="17145"/>
                    <a:pt x="14986" y="14859"/>
                  </a:cubicBezTo>
                  <a:cubicBezTo>
                    <a:pt x="17272" y="12573"/>
                    <a:pt x="19939" y="10414"/>
                    <a:pt x="22606" y="8636"/>
                  </a:cubicBezTo>
                  <a:cubicBezTo>
                    <a:pt x="25273" y="6858"/>
                    <a:pt x="28321" y="5207"/>
                    <a:pt x="31369" y="3937"/>
                  </a:cubicBezTo>
                  <a:cubicBezTo>
                    <a:pt x="34417" y="2667"/>
                    <a:pt x="37592" y="1651"/>
                    <a:pt x="40894" y="1016"/>
                  </a:cubicBezTo>
                  <a:cubicBezTo>
                    <a:pt x="44196" y="381"/>
                    <a:pt x="47371" y="0"/>
                    <a:pt x="50673" y="0"/>
                  </a:cubicBezTo>
                  <a:lnTo>
                    <a:pt x="1178560" y="0"/>
                  </a:lnTo>
                  <a:cubicBezTo>
                    <a:pt x="1181862" y="0"/>
                    <a:pt x="1185164" y="381"/>
                    <a:pt x="1188339" y="1016"/>
                  </a:cubicBezTo>
                  <a:cubicBezTo>
                    <a:pt x="1191514" y="1651"/>
                    <a:pt x="1194689" y="2667"/>
                    <a:pt x="1197864" y="3937"/>
                  </a:cubicBezTo>
                  <a:cubicBezTo>
                    <a:pt x="1201039" y="5207"/>
                    <a:pt x="1203833" y="6731"/>
                    <a:pt x="1206627" y="8636"/>
                  </a:cubicBezTo>
                  <a:cubicBezTo>
                    <a:pt x="1209421" y="10541"/>
                    <a:pt x="1211961" y="12573"/>
                    <a:pt x="1214247" y="14859"/>
                  </a:cubicBezTo>
                  <a:cubicBezTo>
                    <a:pt x="1216533" y="17145"/>
                    <a:pt x="1218692" y="19812"/>
                    <a:pt x="1220470" y="22479"/>
                  </a:cubicBezTo>
                  <a:cubicBezTo>
                    <a:pt x="1222248" y="25146"/>
                    <a:pt x="1223899" y="28194"/>
                    <a:pt x="1225169" y="31242"/>
                  </a:cubicBezTo>
                  <a:cubicBezTo>
                    <a:pt x="1226439" y="34290"/>
                    <a:pt x="1227455" y="37465"/>
                    <a:pt x="1228090" y="40767"/>
                  </a:cubicBezTo>
                  <a:cubicBezTo>
                    <a:pt x="1228725" y="44069"/>
                    <a:pt x="1229106" y="47244"/>
                    <a:pt x="1229106" y="50546"/>
                  </a:cubicBezTo>
                  <a:lnTo>
                    <a:pt x="1229106" y="216408"/>
                  </a:lnTo>
                  <a:cubicBezTo>
                    <a:pt x="1229106" y="219710"/>
                    <a:pt x="1228725" y="223012"/>
                    <a:pt x="1228090" y="226187"/>
                  </a:cubicBezTo>
                  <a:cubicBezTo>
                    <a:pt x="1227455" y="229362"/>
                    <a:pt x="1226439" y="232537"/>
                    <a:pt x="1225169" y="235712"/>
                  </a:cubicBezTo>
                  <a:cubicBezTo>
                    <a:pt x="1223899" y="238887"/>
                    <a:pt x="1222375" y="241681"/>
                    <a:pt x="1220470" y="244475"/>
                  </a:cubicBezTo>
                  <a:cubicBezTo>
                    <a:pt x="1218565" y="247269"/>
                    <a:pt x="1216533" y="249809"/>
                    <a:pt x="1214247" y="252095"/>
                  </a:cubicBezTo>
                  <a:cubicBezTo>
                    <a:pt x="1211961" y="254381"/>
                    <a:pt x="1209294" y="256540"/>
                    <a:pt x="1206627" y="258318"/>
                  </a:cubicBezTo>
                  <a:cubicBezTo>
                    <a:pt x="1203960" y="260096"/>
                    <a:pt x="1200912" y="261747"/>
                    <a:pt x="1197864" y="263017"/>
                  </a:cubicBezTo>
                  <a:cubicBezTo>
                    <a:pt x="1194816" y="264287"/>
                    <a:pt x="1191641" y="265303"/>
                    <a:pt x="1188339" y="265938"/>
                  </a:cubicBezTo>
                  <a:cubicBezTo>
                    <a:pt x="1185037" y="266573"/>
                    <a:pt x="1181862" y="266954"/>
                    <a:pt x="1178560" y="266954"/>
                  </a:cubicBezTo>
                  <a:lnTo>
                    <a:pt x="50546" y="266954"/>
                  </a:lnTo>
                  <a:cubicBezTo>
                    <a:pt x="47244" y="266954"/>
                    <a:pt x="43942" y="266573"/>
                    <a:pt x="40767" y="265938"/>
                  </a:cubicBezTo>
                  <a:cubicBezTo>
                    <a:pt x="37592" y="265303"/>
                    <a:pt x="34417" y="264287"/>
                    <a:pt x="31242" y="263017"/>
                  </a:cubicBezTo>
                  <a:cubicBezTo>
                    <a:pt x="28067" y="261747"/>
                    <a:pt x="25273" y="260223"/>
                    <a:pt x="22479" y="258318"/>
                  </a:cubicBezTo>
                  <a:cubicBezTo>
                    <a:pt x="19685" y="256413"/>
                    <a:pt x="17145" y="254381"/>
                    <a:pt x="14859" y="252095"/>
                  </a:cubicBezTo>
                  <a:cubicBezTo>
                    <a:pt x="12573" y="249809"/>
                    <a:pt x="10414" y="247142"/>
                    <a:pt x="8636" y="244475"/>
                  </a:cubicBezTo>
                  <a:cubicBezTo>
                    <a:pt x="6858" y="241808"/>
                    <a:pt x="5207" y="238760"/>
                    <a:pt x="3937" y="235712"/>
                  </a:cubicBezTo>
                  <a:cubicBezTo>
                    <a:pt x="2667" y="232664"/>
                    <a:pt x="1651" y="229489"/>
                    <a:pt x="1016" y="226187"/>
                  </a:cubicBezTo>
                  <a:cubicBezTo>
                    <a:pt x="381" y="222885"/>
                    <a:pt x="0" y="219710"/>
                    <a:pt x="0" y="216408"/>
                  </a:cubicBezTo>
                  <a:close/>
                </a:path>
              </a:pathLst>
            </a:custGeom>
            <a:solidFill>
              <a:srgbClr val="1E0C41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720725" y="1749425"/>
              <a:ext cx="10877550" cy="4648200"/>
            </a:xfrm>
            <a:custGeom>
              <a:avLst/>
              <a:gdLst/>
              <a:ahLst/>
              <a:cxnLst/>
              <a:rect l="l" t="t" r="r" b="b"/>
              <a:pathLst>
                <a:path w="10877550" h="4648200">
                  <a:moveTo>
                    <a:pt x="0" y="4585081"/>
                  </a:moveTo>
                  <a:lnTo>
                    <a:pt x="0" y="63119"/>
                  </a:lnTo>
                  <a:lnTo>
                    <a:pt x="4826" y="63119"/>
                  </a:lnTo>
                  <a:lnTo>
                    <a:pt x="0" y="63119"/>
                  </a:lnTo>
                  <a:cubicBezTo>
                    <a:pt x="0" y="58928"/>
                    <a:pt x="381" y="54864"/>
                    <a:pt x="1270" y="50800"/>
                  </a:cubicBezTo>
                  <a:cubicBezTo>
                    <a:pt x="2032" y="46736"/>
                    <a:pt x="3302" y="42799"/>
                    <a:pt x="4826" y="38989"/>
                  </a:cubicBezTo>
                  <a:lnTo>
                    <a:pt x="9271" y="40767"/>
                  </a:lnTo>
                  <a:lnTo>
                    <a:pt x="4826" y="38989"/>
                  </a:lnTo>
                  <a:cubicBezTo>
                    <a:pt x="6350" y="35179"/>
                    <a:pt x="8382" y="31496"/>
                    <a:pt x="10668" y="28067"/>
                  </a:cubicBezTo>
                  <a:lnTo>
                    <a:pt x="14605" y="30734"/>
                  </a:lnTo>
                  <a:lnTo>
                    <a:pt x="10668" y="28067"/>
                  </a:lnTo>
                  <a:cubicBezTo>
                    <a:pt x="12954" y="24638"/>
                    <a:pt x="15621" y="21463"/>
                    <a:pt x="18542" y="18542"/>
                  </a:cubicBezTo>
                  <a:lnTo>
                    <a:pt x="21971" y="21971"/>
                  </a:lnTo>
                  <a:lnTo>
                    <a:pt x="18542" y="18542"/>
                  </a:lnTo>
                  <a:cubicBezTo>
                    <a:pt x="21463" y="15621"/>
                    <a:pt x="24638" y="12954"/>
                    <a:pt x="28067" y="10668"/>
                  </a:cubicBezTo>
                  <a:cubicBezTo>
                    <a:pt x="31496" y="8382"/>
                    <a:pt x="35179" y="6477"/>
                    <a:pt x="38989" y="4826"/>
                  </a:cubicBezTo>
                  <a:lnTo>
                    <a:pt x="40767" y="9271"/>
                  </a:lnTo>
                  <a:lnTo>
                    <a:pt x="38989" y="4826"/>
                  </a:lnTo>
                  <a:cubicBezTo>
                    <a:pt x="42799" y="3302"/>
                    <a:pt x="46736" y="2032"/>
                    <a:pt x="50800" y="1270"/>
                  </a:cubicBezTo>
                  <a:lnTo>
                    <a:pt x="51689" y="5969"/>
                  </a:lnTo>
                  <a:lnTo>
                    <a:pt x="50800" y="1270"/>
                  </a:lnTo>
                  <a:cubicBezTo>
                    <a:pt x="54864" y="508"/>
                    <a:pt x="58928" y="0"/>
                    <a:pt x="63119" y="0"/>
                  </a:cubicBezTo>
                  <a:lnTo>
                    <a:pt x="63119" y="4826"/>
                  </a:lnTo>
                  <a:lnTo>
                    <a:pt x="63119" y="0"/>
                  </a:lnTo>
                  <a:lnTo>
                    <a:pt x="10814431" y="0"/>
                  </a:lnTo>
                  <a:lnTo>
                    <a:pt x="10814431" y="4826"/>
                  </a:lnTo>
                  <a:lnTo>
                    <a:pt x="10814431" y="0"/>
                  </a:lnTo>
                  <a:cubicBezTo>
                    <a:pt x="10818623" y="0"/>
                    <a:pt x="10822687" y="381"/>
                    <a:pt x="10826750" y="1270"/>
                  </a:cubicBezTo>
                  <a:lnTo>
                    <a:pt x="10825862" y="5969"/>
                  </a:lnTo>
                  <a:lnTo>
                    <a:pt x="10826750" y="1270"/>
                  </a:lnTo>
                  <a:cubicBezTo>
                    <a:pt x="10830814" y="2032"/>
                    <a:pt x="10834751" y="3302"/>
                    <a:pt x="10838562" y="4826"/>
                  </a:cubicBezTo>
                  <a:lnTo>
                    <a:pt x="10836783" y="9271"/>
                  </a:lnTo>
                  <a:lnTo>
                    <a:pt x="10838562" y="4826"/>
                  </a:lnTo>
                  <a:cubicBezTo>
                    <a:pt x="10842372" y="6350"/>
                    <a:pt x="10846054" y="8382"/>
                    <a:pt x="10849483" y="10668"/>
                  </a:cubicBezTo>
                  <a:lnTo>
                    <a:pt x="10846816" y="14605"/>
                  </a:lnTo>
                  <a:lnTo>
                    <a:pt x="10849483" y="10668"/>
                  </a:lnTo>
                  <a:cubicBezTo>
                    <a:pt x="10852913" y="12954"/>
                    <a:pt x="10856088" y="15621"/>
                    <a:pt x="10859008" y="18542"/>
                  </a:cubicBezTo>
                  <a:lnTo>
                    <a:pt x="10855579" y="21971"/>
                  </a:lnTo>
                  <a:lnTo>
                    <a:pt x="10859008" y="18542"/>
                  </a:lnTo>
                  <a:cubicBezTo>
                    <a:pt x="10861929" y="21463"/>
                    <a:pt x="10864597" y="24638"/>
                    <a:pt x="10866882" y="28067"/>
                  </a:cubicBezTo>
                  <a:cubicBezTo>
                    <a:pt x="10869168" y="31496"/>
                    <a:pt x="10871074" y="35179"/>
                    <a:pt x="10872725" y="38989"/>
                  </a:cubicBezTo>
                  <a:lnTo>
                    <a:pt x="10868279" y="40767"/>
                  </a:lnTo>
                  <a:lnTo>
                    <a:pt x="10872725" y="38989"/>
                  </a:lnTo>
                  <a:cubicBezTo>
                    <a:pt x="10874249" y="42799"/>
                    <a:pt x="10875518" y="46736"/>
                    <a:pt x="10876280" y="50800"/>
                  </a:cubicBezTo>
                  <a:lnTo>
                    <a:pt x="10871581" y="51689"/>
                  </a:lnTo>
                  <a:lnTo>
                    <a:pt x="10876280" y="50800"/>
                  </a:lnTo>
                  <a:cubicBezTo>
                    <a:pt x="10877042" y="54864"/>
                    <a:pt x="10877550" y="58928"/>
                    <a:pt x="10877550" y="63119"/>
                  </a:cubicBezTo>
                  <a:lnTo>
                    <a:pt x="10877550" y="4585081"/>
                  </a:lnTo>
                  <a:cubicBezTo>
                    <a:pt x="10877550" y="4589272"/>
                    <a:pt x="10877169" y="4593336"/>
                    <a:pt x="10876280" y="4597400"/>
                  </a:cubicBezTo>
                  <a:lnTo>
                    <a:pt x="10871581" y="4596511"/>
                  </a:lnTo>
                  <a:lnTo>
                    <a:pt x="10876280" y="4597400"/>
                  </a:lnTo>
                  <a:cubicBezTo>
                    <a:pt x="10875518" y="4601464"/>
                    <a:pt x="10874249" y="4605401"/>
                    <a:pt x="10872725" y="4609211"/>
                  </a:cubicBezTo>
                  <a:lnTo>
                    <a:pt x="10868279" y="4607433"/>
                  </a:lnTo>
                  <a:lnTo>
                    <a:pt x="10872725" y="4609211"/>
                  </a:lnTo>
                  <a:cubicBezTo>
                    <a:pt x="10871200" y="4613021"/>
                    <a:pt x="10869168" y="4616704"/>
                    <a:pt x="10866882" y="4620133"/>
                  </a:cubicBezTo>
                  <a:cubicBezTo>
                    <a:pt x="10864597" y="4623562"/>
                    <a:pt x="10861929" y="4626737"/>
                    <a:pt x="10859008" y="4629658"/>
                  </a:cubicBezTo>
                  <a:cubicBezTo>
                    <a:pt x="10856088" y="4632579"/>
                    <a:pt x="10852913" y="4635246"/>
                    <a:pt x="10849483" y="4637532"/>
                  </a:cubicBezTo>
                  <a:lnTo>
                    <a:pt x="10846816" y="4633595"/>
                  </a:lnTo>
                  <a:lnTo>
                    <a:pt x="10849483" y="4637532"/>
                  </a:lnTo>
                  <a:cubicBezTo>
                    <a:pt x="10846054" y="4639818"/>
                    <a:pt x="10842372" y="4641723"/>
                    <a:pt x="10838562" y="4643374"/>
                  </a:cubicBezTo>
                  <a:lnTo>
                    <a:pt x="10836783" y="4638929"/>
                  </a:lnTo>
                  <a:lnTo>
                    <a:pt x="10838562" y="4643374"/>
                  </a:lnTo>
                  <a:cubicBezTo>
                    <a:pt x="10834751" y="4644898"/>
                    <a:pt x="10830814" y="4646168"/>
                    <a:pt x="10826750" y="4646930"/>
                  </a:cubicBezTo>
                  <a:lnTo>
                    <a:pt x="10825862" y="4642231"/>
                  </a:lnTo>
                  <a:lnTo>
                    <a:pt x="10826750" y="4646930"/>
                  </a:lnTo>
                  <a:cubicBezTo>
                    <a:pt x="10822687" y="4647692"/>
                    <a:pt x="10818623" y="4648200"/>
                    <a:pt x="10814431" y="4648200"/>
                  </a:cubicBezTo>
                  <a:lnTo>
                    <a:pt x="63119" y="4648200"/>
                  </a:lnTo>
                  <a:cubicBezTo>
                    <a:pt x="58928" y="4648200"/>
                    <a:pt x="54864" y="4647819"/>
                    <a:pt x="50800" y="4646930"/>
                  </a:cubicBezTo>
                  <a:lnTo>
                    <a:pt x="51689" y="4642231"/>
                  </a:lnTo>
                  <a:lnTo>
                    <a:pt x="50800" y="4646930"/>
                  </a:lnTo>
                  <a:cubicBezTo>
                    <a:pt x="46736" y="4646168"/>
                    <a:pt x="42799" y="4644898"/>
                    <a:pt x="38989" y="4643374"/>
                  </a:cubicBezTo>
                  <a:lnTo>
                    <a:pt x="40767" y="4638929"/>
                  </a:lnTo>
                  <a:lnTo>
                    <a:pt x="38989" y="4643374"/>
                  </a:lnTo>
                  <a:cubicBezTo>
                    <a:pt x="35179" y="4641850"/>
                    <a:pt x="31496" y="4639818"/>
                    <a:pt x="28067" y="4637532"/>
                  </a:cubicBezTo>
                  <a:lnTo>
                    <a:pt x="30734" y="4633595"/>
                  </a:lnTo>
                  <a:lnTo>
                    <a:pt x="28067" y="4637532"/>
                  </a:lnTo>
                  <a:cubicBezTo>
                    <a:pt x="24638" y="4635246"/>
                    <a:pt x="21463" y="4632579"/>
                    <a:pt x="18542" y="4629658"/>
                  </a:cubicBezTo>
                  <a:cubicBezTo>
                    <a:pt x="15621" y="4626737"/>
                    <a:pt x="12954" y="4623562"/>
                    <a:pt x="10668" y="4620133"/>
                  </a:cubicBezTo>
                  <a:cubicBezTo>
                    <a:pt x="8382" y="4616704"/>
                    <a:pt x="6477" y="4613021"/>
                    <a:pt x="4826" y="4609211"/>
                  </a:cubicBezTo>
                  <a:lnTo>
                    <a:pt x="9271" y="4607433"/>
                  </a:lnTo>
                  <a:lnTo>
                    <a:pt x="4826" y="4609211"/>
                  </a:lnTo>
                  <a:cubicBezTo>
                    <a:pt x="3302" y="4605401"/>
                    <a:pt x="2032" y="4601464"/>
                    <a:pt x="1270" y="4597400"/>
                  </a:cubicBezTo>
                  <a:lnTo>
                    <a:pt x="5969" y="4596511"/>
                  </a:lnTo>
                  <a:lnTo>
                    <a:pt x="1270" y="4597400"/>
                  </a:lnTo>
                  <a:cubicBezTo>
                    <a:pt x="508" y="4593336"/>
                    <a:pt x="0" y="4589272"/>
                    <a:pt x="0" y="4585081"/>
                  </a:cubicBezTo>
                  <a:lnTo>
                    <a:pt x="4826" y="4585081"/>
                  </a:lnTo>
                  <a:lnTo>
                    <a:pt x="0" y="4585081"/>
                  </a:lnTo>
                  <a:moveTo>
                    <a:pt x="9525" y="4585081"/>
                  </a:moveTo>
                  <a:cubicBezTo>
                    <a:pt x="9525" y="4588637"/>
                    <a:pt x="9906" y="4592066"/>
                    <a:pt x="10541" y="4595495"/>
                  </a:cubicBezTo>
                  <a:cubicBezTo>
                    <a:pt x="11176" y="4598924"/>
                    <a:pt x="12192" y="4602226"/>
                    <a:pt x="13589" y="4605528"/>
                  </a:cubicBezTo>
                  <a:cubicBezTo>
                    <a:pt x="14986" y="4608830"/>
                    <a:pt x="16637" y="4611878"/>
                    <a:pt x="18542" y="4614799"/>
                  </a:cubicBezTo>
                  <a:lnTo>
                    <a:pt x="14605" y="4617466"/>
                  </a:lnTo>
                  <a:lnTo>
                    <a:pt x="18542" y="4614799"/>
                  </a:lnTo>
                  <a:cubicBezTo>
                    <a:pt x="20447" y="4617720"/>
                    <a:pt x="22733" y="4620387"/>
                    <a:pt x="25146" y="4622927"/>
                  </a:cubicBezTo>
                  <a:lnTo>
                    <a:pt x="21717" y="4626356"/>
                  </a:lnTo>
                  <a:lnTo>
                    <a:pt x="25146" y="4622927"/>
                  </a:lnTo>
                  <a:cubicBezTo>
                    <a:pt x="27686" y="4625467"/>
                    <a:pt x="30353" y="4627626"/>
                    <a:pt x="33274" y="4629531"/>
                  </a:cubicBezTo>
                  <a:cubicBezTo>
                    <a:pt x="36195" y="4631436"/>
                    <a:pt x="39243" y="4633087"/>
                    <a:pt x="42545" y="4634484"/>
                  </a:cubicBezTo>
                  <a:cubicBezTo>
                    <a:pt x="45847" y="4635881"/>
                    <a:pt x="49149" y="4636897"/>
                    <a:pt x="52578" y="4637532"/>
                  </a:cubicBezTo>
                  <a:cubicBezTo>
                    <a:pt x="56007" y="4638167"/>
                    <a:pt x="59563" y="4638548"/>
                    <a:pt x="62992" y="4638548"/>
                  </a:cubicBezTo>
                  <a:lnTo>
                    <a:pt x="62992" y="4643247"/>
                  </a:lnTo>
                  <a:lnTo>
                    <a:pt x="62992" y="4638675"/>
                  </a:lnTo>
                  <a:lnTo>
                    <a:pt x="10814431" y="4638675"/>
                  </a:lnTo>
                  <a:lnTo>
                    <a:pt x="10814431" y="4643501"/>
                  </a:lnTo>
                  <a:lnTo>
                    <a:pt x="10814431" y="4638802"/>
                  </a:lnTo>
                  <a:cubicBezTo>
                    <a:pt x="10817988" y="4638802"/>
                    <a:pt x="10821416" y="4638421"/>
                    <a:pt x="10824845" y="4637786"/>
                  </a:cubicBezTo>
                  <a:cubicBezTo>
                    <a:pt x="10828275" y="4637151"/>
                    <a:pt x="10831576" y="4636135"/>
                    <a:pt x="10834878" y="4634738"/>
                  </a:cubicBezTo>
                  <a:cubicBezTo>
                    <a:pt x="10838180" y="4633341"/>
                    <a:pt x="10841228" y="4631690"/>
                    <a:pt x="10844150" y="4629785"/>
                  </a:cubicBezTo>
                  <a:cubicBezTo>
                    <a:pt x="10847070" y="4627880"/>
                    <a:pt x="10849738" y="4625594"/>
                    <a:pt x="10852277" y="4623181"/>
                  </a:cubicBezTo>
                  <a:lnTo>
                    <a:pt x="10855706" y="4626610"/>
                  </a:lnTo>
                  <a:lnTo>
                    <a:pt x="10852277" y="4623181"/>
                  </a:lnTo>
                  <a:cubicBezTo>
                    <a:pt x="10854817" y="4620641"/>
                    <a:pt x="10856976" y="4617974"/>
                    <a:pt x="10858881" y="4615053"/>
                  </a:cubicBezTo>
                  <a:lnTo>
                    <a:pt x="10862818" y="4617720"/>
                  </a:lnTo>
                  <a:lnTo>
                    <a:pt x="10858881" y="4615053"/>
                  </a:lnTo>
                  <a:cubicBezTo>
                    <a:pt x="10860787" y="4612132"/>
                    <a:pt x="10862438" y="4609084"/>
                    <a:pt x="10863835" y="4605782"/>
                  </a:cubicBezTo>
                  <a:cubicBezTo>
                    <a:pt x="10865231" y="4602480"/>
                    <a:pt x="10866248" y="4599178"/>
                    <a:pt x="10866882" y="4595749"/>
                  </a:cubicBezTo>
                  <a:cubicBezTo>
                    <a:pt x="10867517" y="4592320"/>
                    <a:pt x="10867899" y="4588764"/>
                    <a:pt x="10867899" y="4585335"/>
                  </a:cubicBezTo>
                  <a:lnTo>
                    <a:pt x="10872598" y="4585335"/>
                  </a:lnTo>
                  <a:lnTo>
                    <a:pt x="10867772" y="4585335"/>
                  </a:lnTo>
                  <a:lnTo>
                    <a:pt x="10867772" y="63119"/>
                  </a:lnTo>
                  <a:lnTo>
                    <a:pt x="10872598" y="63119"/>
                  </a:lnTo>
                  <a:lnTo>
                    <a:pt x="10867899" y="63119"/>
                  </a:lnTo>
                  <a:cubicBezTo>
                    <a:pt x="10867899" y="59563"/>
                    <a:pt x="10867517" y="56134"/>
                    <a:pt x="10866882" y="52705"/>
                  </a:cubicBezTo>
                  <a:cubicBezTo>
                    <a:pt x="10866248" y="49276"/>
                    <a:pt x="10865231" y="45974"/>
                    <a:pt x="10863835" y="42672"/>
                  </a:cubicBezTo>
                  <a:cubicBezTo>
                    <a:pt x="10862438" y="39370"/>
                    <a:pt x="10860787" y="36322"/>
                    <a:pt x="10858881" y="33401"/>
                  </a:cubicBezTo>
                  <a:lnTo>
                    <a:pt x="10862818" y="30734"/>
                  </a:lnTo>
                  <a:lnTo>
                    <a:pt x="10858881" y="33401"/>
                  </a:lnTo>
                  <a:cubicBezTo>
                    <a:pt x="10856976" y="30480"/>
                    <a:pt x="10854690" y="27813"/>
                    <a:pt x="10852277" y="25273"/>
                  </a:cubicBezTo>
                  <a:cubicBezTo>
                    <a:pt x="10849738" y="22733"/>
                    <a:pt x="10847070" y="20574"/>
                    <a:pt x="10844150" y="18669"/>
                  </a:cubicBezTo>
                  <a:cubicBezTo>
                    <a:pt x="10841228" y="16764"/>
                    <a:pt x="10838180" y="15113"/>
                    <a:pt x="10834878" y="13716"/>
                  </a:cubicBezTo>
                  <a:cubicBezTo>
                    <a:pt x="10831576" y="12319"/>
                    <a:pt x="10828275" y="11303"/>
                    <a:pt x="10824845" y="10668"/>
                  </a:cubicBezTo>
                  <a:cubicBezTo>
                    <a:pt x="10821416" y="10033"/>
                    <a:pt x="10817861" y="9652"/>
                    <a:pt x="10814431" y="9652"/>
                  </a:cubicBezTo>
                  <a:lnTo>
                    <a:pt x="63119" y="9652"/>
                  </a:lnTo>
                  <a:cubicBezTo>
                    <a:pt x="59563" y="9652"/>
                    <a:pt x="56134" y="10033"/>
                    <a:pt x="52705" y="10668"/>
                  </a:cubicBezTo>
                  <a:cubicBezTo>
                    <a:pt x="49276" y="11303"/>
                    <a:pt x="45974" y="12319"/>
                    <a:pt x="42672" y="13716"/>
                  </a:cubicBezTo>
                  <a:cubicBezTo>
                    <a:pt x="39370" y="15113"/>
                    <a:pt x="36322" y="16764"/>
                    <a:pt x="33401" y="18669"/>
                  </a:cubicBezTo>
                  <a:lnTo>
                    <a:pt x="30734" y="14732"/>
                  </a:lnTo>
                  <a:lnTo>
                    <a:pt x="33401" y="18669"/>
                  </a:lnTo>
                  <a:cubicBezTo>
                    <a:pt x="30480" y="20574"/>
                    <a:pt x="27813" y="22860"/>
                    <a:pt x="25273" y="25273"/>
                  </a:cubicBezTo>
                  <a:cubicBezTo>
                    <a:pt x="22733" y="27813"/>
                    <a:pt x="20574" y="30480"/>
                    <a:pt x="18669" y="33401"/>
                  </a:cubicBezTo>
                  <a:cubicBezTo>
                    <a:pt x="16764" y="36322"/>
                    <a:pt x="15113" y="39370"/>
                    <a:pt x="13716" y="42672"/>
                  </a:cubicBezTo>
                  <a:cubicBezTo>
                    <a:pt x="12319" y="45974"/>
                    <a:pt x="11303" y="49276"/>
                    <a:pt x="10668" y="52705"/>
                  </a:cubicBezTo>
                  <a:lnTo>
                    <a:pt x="5969" y="51816"/>
                  </a:lnTo>
                  <a:lnTo>
                    <a:pt x="10668" y="52705"/>
                  </a:lnTo>
                  <a:cubicBezTo>
                    <a:pt x="10033" y="56134"/>
                    <a:pt x="9652" y="59690"/>
                    <a:pt x="9652" y="63119"/>
                  </a:cubicBezTo>
                  <a:lnTo>
                    <a:pt x="9652" y="4585081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730250" y="2263775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987800" y="2263775"/>
              <a:ext cx="7600950" cy="9525"/>
            </a:xfrm>
            <a:custGeom>
              <a:avLst/>
              <a:gdLst/>
              <a:ahLst/>
              <a:cxnLst/>
              <a:rect l="l" t="t" r="r" b="b"/>
              <a:pathLst>
                <a:path w="7600950" h="9525">
                  <a:moveTo>
                    <a:pt x="0" y="0"/>
                  </a:moveTo>
                  <a:lnTo>
                    <a:pt x="7600950" y="0"/>
                  </a:lnTo>
                  <a:lnTo>
                    <a:pt x="76009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730250" y="2778125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3987800" y="2778125"/>
              <a:ext cx="7600950" cy="9525"/>
            </a:xfrm>
            <a:custGeom>
              <a:avLst/>
              <a:gdLst/>
              <a:ahLst/>
              <a:cxnLst/>
              <a:rect l="l" t="t" r="r" b="b"/>
              <a:pathLst>
                <a:path w="7600950" h="9525">
                  <a:moveTo>
                    <a:pt x="0" y="0"/>
                  </a:moveTo>
                  <a:lnTo>
                    <a:pt x="7600950" y="0"/>
                  </a:lnTo>
                  <a:lnTo>
                    <a:pt x="76009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730250" y="3292475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3987800" y="3292475"/>
              <a:ext cx="7600950" cy="9525"/>
            </a:xfrm>
            <a:custGeom>
              <a:avLst/>
              <a:gdLst/>
              <a:ahLst/>
              <a:cxnLst/>
              <a:rect l="l" t="t" r="r" b="b"/>
              <a:pathLst>
                <a:path w="7600950" h="9525">
                  <a:moveTo>
                    <a:pt x="0" y="0"/>
                  </a:moveTo>
                  <a:lnTo>
                    <a:pt x="7600950" y="0"/>
                  </a:lnTo>
                  <a:lnTo>
                    <a:pt x="76009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730250" y="3806825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3987800" y="3806825"/>
              <a:ext cx="7600950" cy="9525"/>
            </a:xfrm>
            <a:custGeom>
              <a:avLst/>
              <a:gdLst/>
              <a:ahLst/>
              <a:cxnLst/>
              <a:rect l="l" t="t" r="r" b="b"/>
              <a:pathLst>
                <a:path w="7600950" h="9525">
                  <a:moveTo>
                    <a:pt x="0" y="0"/>
                  </a:moveTo>
                  <a:lnTo>
                    <a:pt x="7600950" y="0"/>
                  </a:lnTo>
                  <a:lnTo>
                    <a:pt x="76009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730250" y="4330700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3987800" y="4330700"/>
              <a:ext cx="7600950" cy="9525"/>
            </a:xfrm>
            <a:custGeom>
              <a:avLst/>
              <a:gdLst/>
              <a:ahLst/>
              <a:cxnLst/>
              <a:rect l="l" t="t" r="r" b="b"/>
              <a:pathLst>
                <a:path w="7600950" h="9525">
                  <a:moveTo>
                    <a:pt x="0" y="0"/>
                  </a:moveTo>
                  <a:lnTo>
                    <a:pt x="7600950" y="0"/>
                  </a:lnTo>
                  <a:lnTo>
                    <a:pt x="76009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730250" y="4845050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3987800" y="4845050"/>
              <a:ext cx="7600950" cy="9525"/>
            </a:xfrm>
            <a:custGeom>
              <a:avLst/>
              <a:gdLst/>
              <a:ahLst/>
              <a:cxnLst/>
              <a:rect l="l" t="t" r="r" b="b"/>
              <a:pathLst>
                <a:path w="7600950" h="9525">
                  <a:moveTo>
                    <a:pt x="0" y="0"/>
                  </a:moveTo>
                  <a:lnTo>
                    <a:pt x="7600950" y="0"/>
                  </a:lnTo>
                  <a:lnTo>
                    <a:pt x="76009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730250" y="5359400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3987800" y="5359400"/>
              <a:ext cx="7600950" cy="9525"/>
            </a:xfrm>
            <a:custGeom>
              <a:avLst/>
              <a:gdLst/>
              <a:ahLst/>
              <a:cxnLst/>
              <a:rect l="l" t="t" r="r" b="b"/>
              <a:pathLst>
                <a:path w="7600950" h="9525">
                  <a:moveTo>
                    <a:pt x="0" y="0"/>
                  </a:moveTo>
                  <a:lnTo>
                    <a:pt x="7600950" y="0"/>
                  </a:lnTo>
                  <a:lnTo>
                    <a:pt x="76009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730250" y="5873750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3987800" y="5873750"/>
              <a:ext cx="7600950" cy="9525"/>
            </a:xfrm>
            <a:custGeom>
              <a:avLst/>
              <a:gdLst/>
              <a:ahLst/>
              <a:cxnLst/>
              <a:rect l="l" t="t" r="r" b="b"/>
              <a:pathLst>
                <a:path w="7600950" h="9525">
                  <a:moveTo>
                    <a:pt x="0" y="0"/>
                  </a:moveTo>
                  <a:lnTo>
                    <a:pt x="7600950" y="0"/>
                  </a:lnTo>
                  <a:lnTo>
                    <a:pt x="760095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56546B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769591" y="514921"/>
            <a:ext cx="1027871" cy="211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8"/>
              </a:lnSpc>
            </a:pPr>
            <a:r>
              <a:rPr lang="en-US" sz="113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DATA &amp; DESIGN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1540" y="899198"/>
            <a:ext cx="7547143" cy="60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4"/>
              </a:lnSpc>
            </a:pPr>
            <a:r>
              <a:rPr lang="en-US" sz="3546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Data Sources: 8 Relational Tables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1297" y="1785414"/>
            <a:ext cx="453038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Table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1297" y="2296268"/>
            <a:ext cx="445770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users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1297" y="2810618"/>
            <a:ext cx="546945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drivers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1297" y="3324968"/>
            <a:ext cx="654396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vehicles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1297" y="3839318"/>
            <a:ext cx="429006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cities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1297" y="4353668"/>
            <a:ext cx="396354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rides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1297" y="4877543"/>
            <a:ext cx="800319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payments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1297" y="5391893"/>
            <a:ext cx="930907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promotions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1297" y="5906243"/>
            <a:ext cx="1379706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ratings_feedback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106170" y="1785414"/>
            <a:ext cx="689820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Purpose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06170" y="2296268"/>
            <a:ext cx="2179739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User and customer profiles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06170" y="2810618"/>
            <a:ext cx="3544634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Driver information and performance metrics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106170" y="3324968"/>
            <a:ext cx="3000213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Vehicle specifications and categories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106170" y="3839318"/>
            <a:ext cx="2766393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City names and tier classifications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106170" y="4353668"/>
            <a:ext cx="2345036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Core ride transaction records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106170" y="4877543"/>
            <a:ext cx="2666657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Payment transactions and status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106170" y="5391893"/>
            <a:ext cx="2502799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Coupons, discounts, and offers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106170" y="5906243"/>
            <a:ext cx="2954026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User and driver ratings and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3503" y="-63503"/>
            <a:ext cx="12318997" cy="6984997"/>
            <a:chOff x="0" y="0"/>
            <a:chExt cx="12319000" cy="6985000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D0A2C">
                <a:alpha val="89804"/>
              </a:srgbClr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720598" y="587248"/>
              <a:ext cx="762254" cy="143002"/>
            </a:xfrm>
            <a:custGeom>
              <a:avLst/>
              <a:gdLst/>
              <a:ahLst/>
              <a:cxnLst/>
              <a:rect l="l" t="t" r="r" b="b"/>
              <a:pathLst>
                <a:path w="762254" h="143002">
                  <a:moveTo>
                    <a:pt x="127" y="116586"/>
                  </a:moveTo>
                  <a:lnTo>
                    <a:pt x="127" y="26543"/>
                  </a:lnTo>
                  <a:cubicBezTo>
                    <a:pt x="127" y="22987"/>
                    <a:pt x="762" y="19685"/>
                    <a:pt x="2159" y="16383"/>
                  </a:cubicBezTo>
                  <a:cubicBezTo>
                    <a:pt x="3556" y="13081"/>
                    <a:pt x="5461" y="10287"/>
                    <a:pt x="7874" y="7747"/>
                  </a:cubicBezTo>
                  <a:cubicBezTo>
                    <a:pt x="10287" y="5207"/>
                    <a:pt x="13208" y="3302"/>
                    <a:pt x="16510" y="2032"/>
                  </a:cubicBezTo>
                  <a:cubicBezTo>
                    <a:pt x="19812" y="762"/>
                    <a:pt x="23114" y="0"/>
                    <a:pt x="26670" y="0"/>
                  </a:cubicBezTo>
                  <a:lnTo>
                    <a:pt x="735711" y="0"/>
                  </a:lnTo>
                  <a:cubicBezTo>
                    <a:pt x="739267" y="0"/>
                    <a:pt x="742569" y="635"/>
                    <a:pt x="745871" y="2032"/>
                  </a:cubicBezTo>
                  <a:cubicBezTo>
                    <a:pt x="749173" y="3429"/>
                    <a:pt x="751967" y="5334"/>
                    <a:pt x="754507" y="7747"/>
                  </a:cubicBezTo>
                  <a:cubicBezTo>
                    <a:pt x="757047" y="10160"/>
                    <a:pt x="758952" y="13081"/>
                    <a:pt x="760222" y="16383"/>
                  </a:cubicBezTo>
                  <a:cubicBezTo>
                    <a:pt x="761492" y="19685"/>
                    <a:pt x="762254" y="22987"/>
                    <a:pt x="762254" y="26543"/>
                  </a:cubicBezTo>
                  <a:lnTo>
                    <a:pt x="762254" y="116459"/>
                  </a:lnTo>
                  <a:cubicBezTo>
                    <a:pt x="762254" y="120015"/>
                    <a:pt x="761619" y="123317"/>
                    <a:pt x="760222" y="126619"/>
                  </a:cubicBezTo>
                  <a:cubicBezTo>
                    <a:pt x="758825" y="129921"/>
                    <a:pt x="756920" y="132715"/>
                    <a:pt x="754507" y="135255"/>
                  </a:cubicBezTo>
                  <a:cubicBezTo>
                    <a:pt x="752094" y="137795"/>
                    <a:pt x="749173" y="139700"/>
                    <a:pt x="745871" y="140970"/>
                  </a:cubicBezTo>
                  <a:cubicBezTo>
                    <a:pt x="742569" y="142240"/>
                    <a:pt x="739267" y="143002"/>
                    <a:pt x="735711" y="143002"/>
                  </a:cubicBezTo>
                  <a:lnTo>
                    <a:pt x="26543" y="143002"/>
                  </a:lnTo>
                  <a:cubicBezTo>
                    <a:pt x="22987" y="143002"/>
                    <a:pt x="19685" y="142367"/>
                    <a:pt x="16383" y="140970"/>
                  </a:cubicBezTo>
                  <a:cubicBezTo>
                    <a:pt x="13081" y="139573"/>
                    <a:pt x="10287" y="137668"/>
                    <a:pt x="7747" y="135255"/>
                  </a:cubicBezTo>
                  <a:cubicBezTo>
                    <a:pt x="5207" y="132842"/>
                    <a:pt x="3302" y="129921"/>
                    <a:pt x="2032" y="126619"/>
                  </a:cubicBezTo>
                  <a:cubicBezTo>
                    <a:pt x="762" y="123317"/>
                    <a:pt x="0" y="120015"/>
                    <a:pt x="0" y="116459"/>
                  </a:cubicBezTo>
                  <a:close/>
                </a:path>
              </a:pathLst>
            </a:custGeom>
            <a:solidFill>
              <a:srgbClr val="1E0C41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909316" y="2326259"/>
              <a:ext cx="6457823" cy="3480562"/>
            </a:xfrm>
            <a:custGeom>
              <a:avLst/>
              <a:gdLst/>
              <a:ahLst/>
              <a:cxnLst/>
              <a:rect l="l" t="t" r="r" b="b"/>
              <a:pathLst>
                <a:path w="6457823" h="3480562">
                  <a:moveTo>
                    <a:pt x="4717542" y="3469894"/>
                  </a:moveTo>
                  <a:lnTo>
                    <a:pt x="4717542" y="3480562"/>
                  </a:lnTo>
                  <a:lnTo>
                    <a:pt x="1740281" y="3480562"/>
                  </a:lnTo>
                  <a:lnTo>
                    <a:pt x="1740281" y="3469894"/>
                  </a:lnTo>
                  <a:lnTo>
                    <a:pt x="4717542" y="3469894"/>
                  </a:lnTo>
                  <a:close/>
                  <a:moveTo>
                    <a:pt x="6447155" y="1740281"/>
                  </a:moveTo>
                  <a:cubicBezTo>
                    <a:pt x="6447155" y="785114"/>
                    <a:pt x="5672836" y="10668"/>
                    <a:pt x="4717542" y="10668"/>
                  </a:cubicBezTo>
                  <a:lnTo>
                    <a:pt x="1740281" y="10668"/>
                  </a:lnTo>
                  <a:cubicBezTo>
                    <a:pt x="785114" y="10668"/>
                    <a:pt x="10668" y="784987"/>
                    <a:pt x="10668" y="1740281"/>
                  </a:cubicBezTo>
                  <a:cubicBezTo>
                    <a:pt x="10668" y="2695575"/>
                    <a:pt x="785114" y="3469894"/>
                    <a:pt x="1740281" y="3469894"/>
                  </a:cubicBezTo>
                  <a:lnTo>
                    <a:pt x="1740281" y="3480562"/>
                  </a:lnTo>
                  <a:lnTo>
                    <a:pt x="1717802" y="3480435"/>
                  </a:lnTo>
                  <a:cubicBezTo>
                    <a:pt x="767080" y="3468370"/>
                    <a:pt x="0" y="2693924"/>
                    <a:pt x="0" y="1740281"/>
                  </a:cubicBezTo>
                  <a:cubicBezTo>
                    <a:pt x="0" y="786638"/>
                    <a:pt x="767080" y="12192"/>
                    <a:pt x="1717802" y="127"/>
                  </a:cubicBezTo>
                  <a:lnTo>
                    <a:pt x="1740281" y="0"/>
                  </a:lnTo>
                  <a:lnTo>
                    <a:pt x="4717542" y="0"/>
                  </a:lnTo>
                  <a:cubicBezTo>
                    <a:pt x="5678678" y="0"/>
                    <a:pt x="6457823" y="779145"/>
                    <a:pt x="6457823" y="1740281"/>
                  </a:cubicBezTo>
                  <a:cubicBezTo>
                    <a:pt x="6457823" y="2701417"/>
                    <a:pt x="5678678" y="3480562"/>
                    <a:pt x="4717542" y="3480562"/>
                  </a:cubicBezTo>
                  <a:lnTo>
                    <a:pt x="4717542" y="3469894"/>
                  </a:lnTo>
                  <a:cubicBezTo>
                    <a:pt x="5672709" y="3469894"/>
                    <a:pt x="6447155" y="2695575"/>
                    <a:pt x="6447155" y="1740281"/>
                  </a:cubicBezTo>
                  <a:close/>
                </a:path>
              </a:pathLst>
            </a:custGeom>
            <a:solidFill>
              <a:srgbClr val="7A47DE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292225" y="3611372"/>
              <a:ext cx="1991868" cy="10668"/>
            </a:xfrm>
            <a:custGeom>
              <a:avLst/>
              <a:gdLst/>
              <a:ahLst/>
              <a:cxnLst/>
              <a:rect l="l" t="t" r="r" b="b"/>
              <a:pathLst>
                <a:path w="1991868" h="10668">
                  <a:moveTo>
                    <a:pt x="0" y="0"/>
                  </a:moveTo>
                  <a:lnTo>
                    <a:pt x="0" y="10668"/>
                  </a:lnTo>
                  <a:lnTo>
                    <a:pt x="1991868" y="10668"/>
                  </a:lnTo>
                  <a:lnTo>
                    <a:pt x="19918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289177" y="3608451"/>
              <a:ext cx="1997837" cy="16510"/>
            </a:xfrm>
            <a:custGeom>
              <a:avLst/>
              <a:gdLst/>
              <a:ahLst/>
              <a:cxnLst/>
              <a:rect l="l" t="t" r="r" b="b"/>
              <a:pathLst>
                <a:path w="1997837" h="16510">
                  <a:moveTo>
                    <a:pt x="5969" y="2921"/>
                  </a:moveTo>
                  <a:lnTo>
                    <a:pt x="5969" y="13589"/>
                  </a:lnTo>
                  <a:lnTo>
                    <a:pt x="3048" y="13589"/>
                  </a:lnTo>
                  <a:lnTo>
                    <a:pt x="3048" y="10668"/>
                  </a:lnTo>
                  <a:lnTo>
                    <a:pt x="1994916" y="10668"/>
                  </a:lnTo>
                  <a:lnTo>
                    <a:pt x="1994916" y="13589"/>
                  </a:lnTo>
                  <a:lnTo>
                    <a:pt x="1991995" y="13589"/>
                  </a:lnTo>
                  <a:lnTo>
                    <a:pt x="1991995" y="2921"/>
                  </a:lnTo>
                  <a:lnTo>
                    <a:pt x="1994916" y="2921"/>
                  </a:lnTo>
                  <a:lnTo>
                    <a:pt x="1994916" y="5842"/>
                  </a:lnTo>
                  <a:lnTo>
                    <a:pt x="3048" y="5842"/>
                  </a:lnTo>
                  <a:lnTo>
                    <a:pt x="3048" y="2921"/>
                  </a:lnTo>
                  <a:lnTo>
                    <a:pt x="5969" y="2921"/>
                  </a:lnTo>
                  <a:moveTo>
                    <a:pt x="0" y="2921"/>
                  </a:moveTo>
                  <a:cubicBezTo>
                    <a:pt x="0" y="1270"/>
                    <a:pt x="1270" y="0"/>
                    <a:pt x="2921" y="0"/>
                  </a:cubicBezTo>
                  <a:lnTo>
                    <a:pt x="1994916" y="0"/>
                  </a:lnTo>
                  <a:cubicBezTo>
                    <a:pt x="1996567" y="0"/>
                    <a:pt x="1997837" y="1270"/>
                    <a:pt x="1997837" y="2921"/>
                  </a:cubicBezTo>
                  <a:lnTo>
                    <a:pt x="1997837" y="13589"/>
                  </a:lnTo>
                  <a:cubicBezTo>
                    <a:pt x="1997837" y="15240"/>
                    <a:pt x="1996567" y="16510"/>
                    <a:pt x="1994916" y="16510"/>
                  </a:cubicBezTo>
                  <a:lnTo>
                    <a:pt x="3048" y="16510"/>
                  </a:lnTo>
                  <a:cubicBezTo>
                    <a:pt x="1397" y="16510"/>
                    <a:pt x="127" y="15240"/>
                    <a:pt x="127" y="13589"/>
                  </a:cubicBezTo>
                  <a:lnTo>
                    <a:pt x="127" y="2921"/>
                  </a:lnTo>
                  <a:close/>
                </a:path>
              </a:pathLst>
            </a:custGeom>
            <a:solidFill>
              <a:srgbClr val="4A2C85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938657" y="3568573"/>
              <a:ext cx="375031" cy="85725"/>
            </a:xfrm>
            <a:custGeom>
              <a:avLst/>
              <a:gdLst/>
              <a:ahLst/>
              <a:cxnLst/>
              <a:rect l="l" t="t" r="r" b="b"/>
              <a:pathLst>
                <a:path w="375031" h="85725">
                  <a:moveTo>
                    <a:pt x="23368" y="0"/>
                  </a:moveTo>
                  <a:lnTo>
                    <a:pt x="351663" y="0"/>
                  </a:lnTo>
                  <a:cubicBezTo>
                    <a:pt x="354711" y="0"/>
                    <a:pt x="357759" y="635"/>
                    <a:pt x="360553" y="1778"/>
                  </a:cubicBezTo>
                  <a:cubicBezTo>
                    <a:pt x="363347" y="2921"/>
                    <a:pt x="365887" y="4699"/>
                    <a:pt x="368173" y="6858"/>
                  </a:cubicBezTo>
                  <a:cubicBezTo>
                    <a:pt x="370459" y="9017"/>
                    <a:pt x="371983" y="11557"/>
                    <a:pt x="373253" y="14478"/>
                  </a:cubicBezTo>
                  <a:cubicBezTo>
                    <a:pt x="374523" y="17399"/>
                    <a:pt x="375031" y="20320"/>
                    <a:pt x="375031" y="23368"/>
                  </a:cubicBezTo>
                  <a:lnTo>
                    <a:pt x="375031" y="62357"/>
                  </a:lnTo>
                  <a:cubicBezTo>
                    <a:pt x="375031" y="65405"/>
                    <a:pt x="374396" y="68453"/>
                    <a:pt x="373253" y="71247"/>
                  </a:cubicBezTo>
                  <a:cubicBezTo>
                    <a:pt x="372110" y="74041"/>
                    <a:pt x="370332" y="76581"/>
                    <a:pt x="368173" y="78867"/>
                  </a:cubicBezTo>
                  <a:cubicBezTo>
                    <a:pt x="366014" y="81153"/>
                    <a:pt x="363474" y="82677"/>
                    <a:pt x="360553" y="83947"/>
                  </a:cubicBezTo>
                  <a:cubicBezTo>
                    <a:pt x="357632" y="85217"/>
                    <a:pt x="354711" y="85725"/>
                    <a:pt x="351663" y="85725"/>
                  </a:cubicBezTo>
                  <a:lnTo>
                    <a:pt x="23368" y="85725"/>
                  </a:lnTo>
                  <a:cubicBezTo>
                    <a:pt x="20320" y="85725"/>
                    <a:pt x="17272" y="85090"/>
                    <a:pt x="14478" y="83947"/>
                  </a:cubicBezTo>
                  <a:cubicBezTo>
                    <a:pt x="11684" y="82804"/>
                    <a:pt x="9144" y="81026"/>
                    <a:pt x="6858" y="78867"/>
                  </a:cubicBezTo>
                  <a:cubicBezTo>
                    <a:pt x="4572" y="76708"/>
                    <a:pt x="3048" y="74168"/>
                    <a:pt x="1778" y="71247"/>
                  </a:cubicBezTo>
                  <a:cubicBezTo>
                    <a:pt x="508" y="68326"/>
                    <a:pt x="0" y="65405"/>
                    <a:pt x="0" y="62357"/>
                  </a:cubicBezTo>
                  <a:lnTo>
                    <a:pt x="0" y="23368"/>
                  </a:lnTo>
                  <a:cubicBezTo>
                    <a:pt x="0" y="20320"/>
                    <a:pt x="635" y="17272"/>
                    <a:pt x="1778" y="14478"/>
                  </a:cubicBezTo>
                  <a:cubicBezTo>
                    <a:pt x="2921" y="11684"/>
                    <a:pt x="4699" y="9144"/>
                    <a:pt x="6858" y="6858"/>
                  </a:cubicBezTo>
                  <a:cubicBezTo>
                    <a:pt x="9017" y="4572"/>
                    <a:pt x="11557" y="3048"/>
                    <a:pt x="14478" y="1778"/>
                  </a:cubicBezTo>
                  <a:cubicBezTo>
                    <a:pt x="17399" y="508"/>
                    <a:pt x="20320" y="0"/>
                    <a:pt x="23368" y="0"/>
                  </a:cubicBezTo>
                  <a:close/>
                </a:path>
              </a:pathLst>
            </a:custGeom>
            <a:solidFill>
              <a:srgbClr val="451B97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935736" y="3565652"/>
              <a:ext cx="380873" cy="91567"/>
            </a:xfrm>
            <a:custGeom>
              <a:avLst/>
              <a:gdLst/>
              <a:ahLst/>
              <a:cxnLst/>
              <a:rect l="l" t="t" r="r" b="b"/>
              <a:pathLst>
                <a:path w="380873" h="91567">
                  <a:moveTo>
                    <a:pt x="26289" y="0"/>
                  </a:moveTo>
                  <a:lnTo>
                    <a:pt x="354584" y="0"/>
                  </a:lnTo>
                  <a:lnTo>
                    <a:pt x="354584" y="2921"/>
                  </a:lnTo>
                  <a:lnTo>
                    <a:pt x="354584" y="0"/>
                  </a:lnTo>
                  <a:cubicBezTo>
                    <a:pt x="358013" y="0"/>
                    <a:pt x="361442" y="635"/>
                    <a:pt x="364617" y="2032"/>
                  </a:cubicBezTo>
                  <a:lnTo>
                    <a:pt x="363474" y="4699"/>
                  </a:lnTo>
                  <a:lnTo>
                    <a:pt x="364617" y="2032"/>
                  </a:lnTo>
                  <a:cubicBezTo>
                    <a:pt x="367792" y="3302"/>
                    <a:pt x="370713" y="5207"/>
                    <a:pt x="373126" y="7747"/>
                  </a:cubicBezTo>
                  <a:cubicBezTo>
                    <a:pt x="375539" y="10160"/>
                    <a:pt x="377444" y="13081"/>
                    <a:pt x="378841" y="16256"/>
                  </a:cubicBezTo>
                  <a:lnTo>
                    <a:pt x="376174" y="17399"/>
                  </a:lnTo>
                  <a:lnTo>
                    <a:pt x="378841" y="16256"/>
                  </a:lnTo>
                  <a:cubicBezTo>
                    <a:pt x="380111" y="19431"/>
                    <a:pt x="380873" y="22860"/>
                    <a:pt x="380873" y="26289"/>
                  </a:cubicBezTo>
                  <a:lnTo>
                    <a:pt x="377952" y="26289"/>
                  </a:lnTo>
                  <a:lnTo>
                    <a:pt x="380873" y="26289"/>
                  </a:lnTo>
                  <a:lnTo>
                    <a:pt x="380873" y="65278"/>
                  </a:lnTo>
                  <a:lnTo>
                    <a:pt x="377952" y="65278"/>
                  </a:lnTo>
                  <a:lnTo>
                    <a:pt x="380873" y="65278"/>
                  </a:lnTo>
                  <a:cubicBezTo>
                    <a:pt x="380873" y="68707"/>
                    <a:pt x="380238" y="72136"/>
                    <a:pt x="378841" y="75311"/>
                  </a:cubicBezTo>
                  <a:lnTo>
                    <a:pt x="376174" y="74168"/>
                  </a:lnTo>
                  <a:lnTo>
                    <a:pt x="378841" y="75311"/>
                  </a:lnTo>
                  <a:cubicBezTo>
                    <a:pt x="377571" y="78486"/>
                    <a:pt x="375666" y="81407"/>
                    <a:pt x="373126" y="83820"/>
                  </a:cubicBezTo>
                  <a:cubicBezTo>
                    <a:pt x="370713" y="86233"/>
                    <a:pt x="367792" y="88138"/>
                    <a:pt x="364617" y="89535"/>
                  </a:cubicBezTo>
                  <a:lnTo>
                    <a:pt x="363474" y="86868"/>
                  </a:lnTo>
                  <a:lnTo>
                    <a:pt x="364617" y="89535"/>
                  </a:lnTo>
                  <a:cubicBezTo>
                    <a:pt x="361442" y="90805"/>
                    <a:pt x="358013" y="91567"/>
                    <a:pt x="354584" y="91567"/>
                  </a:cubicBezTo>
                  <a:lnTo>
                    <a:pt x="354584" y="88646"/>
                  </a:lnTo>
                  <a:lnTo>
                    <a:pt x="354584" y="91567"/>
                  </a:lnTo>
                  <a:lnTo>
                    <a:pt x="26289" y="91567"/>
                  </a:lnTo>
                  <a:lnTo>
                    <a:pt x="26289" y="88646"/>
                  </a:lnTo>
                  <a:lnTo>
                    <a:pt x="26289" y="91567"/>
                  </a:lnTo>
                  <a:cubicBezTo>
                    <a:pt x="22860" y="91567"/>
                    <a:pt x="19431" y="90932"/>
                    <a:pt x="16256" y="89535"/>
                  </a:cubicBezTo>
                  <a:lnTo>
                    <a:pt x="17399" y="86868"/>
                  </a:lnTo>
                  <a:lnTo>
                    <a:pt x="16256" y="89535"/>
                  </a:lnTo>
                  <a:cubicBezTo>
                    <a:pt x="13081" y="88265"/>
                    <a:pt x="10160" y="86360"/>
                    <a:pt x="7747" y="83820"/>
                  </a:cubicBezTo>
                  <a:cubicBezTo>
                    <a:pt x="5334" y="81407"/>
                    <a:pt x="3429" y="78486"/>
                    <a:pt x="2032" y="75311"/>
                  </a:cubicBezTo>
                  <a:cubicBezTo>
                    <a:pt x="762" y="72136"/>
                    <a:pt x="0" y="68707"/>
                    <a:pt x="0" y="65278"/>
                  </a:cubicBezTo>
                  <a:lnTo>
                    <a:pt x="2921" y="65278"/>
                  </a:lnTo>
                  <a:lnTo>
                    <a:pt x="0" y="65278"/>
                  </a:lnTo>
                  <a:lnTo>
                    <a:pt x="0" y="26289"/>
                  </a:lnTo>
                  <a:lnTo>
                    <a:pt x="2921" y="26289"/>
                  </a:lnTo>
                  <a:lnTo>
                    <a:pt x="0" y="26289"/>
                  </a:lnTo>
                  <a:cubicBezTo>
                    <a:pt x="0" y="22860"/>
                    <a:pt x="635" y="19431"/>
                    <a:pt x="2032" y="16256"/>
                  </a:cubicBezTo>
                  <a:cubicBezTo>
                    <a:pt x="3302" y="13081"/>
                    <a:pt x="5207" y="10160"/>
                    <a:pt x="7747" y="7747"/>
                  </a:cubicBezTo>
                  <a:lnTo>
                    <a:pt x="9779" y="9779"/>
                  </a:lnTo>
                  <a:lnTo>
                    <a:pt x="7747" y="7747"/>
                  </a:lnTo>
                  <a:cubicBezTo>
                    <a:pt x="10160" y="5334"/>
                    <a:pt x="13081" y="3429"/>
                    <a:pt x="16256" y="2032"/>
                  </a:cubicBezTo>
                  <a:cubicBezTo>
                    <a:pt x="19431" y="762"/>
                    <a:pt x="22860" y="0"/>
                    <a:pt x="26289" y="0"/>
                  </a:cubicBezTo>
                  <a:lnTo>
                    <a:pt x="26289" y="2921"/>
                  </a:lnTo>
                  <a:lnTo>
                    <a:pt x="26289" y="0"/>
                  </a:lnTo>
                  <a:moveTo>
                    <a:pt x="26289" y="5969"/>
                  </a:moveTo>
                  <a:cubicBezTo>
                    <a:pt x="23622" y="5969"/>
                    <a:pt x="20955" y="6477"/>
                    <a:pt x="18542" y="7493"/>
                  </a:cubicBezTo>
                  <a:lnTo>
                    <a:pt x="17399" y="4826"/>
                  </a:lnTo>
                  <a:lnTo>
                    <a:pt x="18542" y="7493"/>
                  </a:lnTo>
                  <a:cubicBezTo>
                    <a:pt x="16002" y="8509"/>
                    <a:pt x="13843" y="10033"/>
                    <a:pt x="11938" y="11938"/>
                  </a:cubicBezTo>
                  <a:cubicBezTo>
                    <a:pt x="10033" y="13843"/>
                    <a:pt x="8509" y="16002"/>
                    <a:pt x="7493" y="18542"/>
                  </a:cubicBezTo>
                  <a:lnTo>
                    <a:pt x="4826" y="17399"/>
                  </a:lnTo>
                  <a:lnTo>
                    <a:pt x="7493" y="18542"/>
                  </a:lnTo>
                  <a:cubicBezTo>
                    <a:pt x="6477" y="21082"/>
                    <a:pt x="5969" y="23622"/>
                    <a:pt x="5969" y="26289"/>
                  </a:cubicBezTo>
                  <a:lnTo>
                    <a:pt x="5969" y="65278"/>
                  </a:lnTo>
                  <a:cubicBezTo>
                    <a:pt x="5969" y="67945"/>
                    <a:pt x="6477" y="70612"/>
                    <a:pt x="7493" y="73025"/>
                  </a:cubicBezTo>
                  <a:lnTo>
                    <a:pt x="4826" y="74168"/>
                  </a:lnTo>
                  <a:lnTo>
                    <a:pt x="7493" y="73025"/>
                  </a:lnTo>
                  <a:cubicBezTo>
                    <a:pt x="8509" y="75565"/>
                    <a:pt x="10033" y="77724"/>
                    <a:pt x="11938" y="79629"/>
                  </a:cubicBezTo>
                  <a:lnTo>
                    <a:pt x="9906" y="81661"/>
                  </a:lnTo>
                  <a:lnTo>
                    <a:pt x="11938" y="79629"/>
                  </a:lnTo>
                  <a:cubicBezTo>
                    <a:pt x="13843" y="81534"/>
                    <a:pt x="16002" y="83058"/>
                    <a:pt x="18542" y="84074"/>
                  </a:cubicBezTo>
                  <a:cubicBezTo>
                    <a:pt x="21082" y="85090"/>
                    <a:pt x="23622" y="85598"/>
                    <a:pt x="26289" y="85598"/>
                  </a:cubicBezTo>
                  <a:lnTo>
                    <a:pt x="354584" y="85598"/>
                  </a:lnTo>
                  <a:cubicBezTo>
                    <a:pt x="357251" y="85598"/>
                    <a:pt x="359918" y="85090"/>
                    <a:pt x="362331" y="84074"/>
                  </a:cubicBezTo>
                  <a:cubicBezTo>
                    <a:pt x="364871" y="83058"/>
                    <a:pt x="367030" y="81534"/>
                    <a:pt x="368935" y="79629"/>
                  </a:cubicBezTo>
                  <a:lnTo>
                    <a:pt x="370967" y="81661"/>
                  </a:lnTo>
                  <a:lnTo>
                    <a:pt x="368935" y="79629"/>
                  </a:lnTo>
                  <a:cubicBezTo>
                    <a:pt x="370840" y="77724"/>
                    <a:pt x="372364" y="75565"/>
                    <a:pt x="373380" y="73025"/>
                  </a:cubicBezTo>
                  <a:cubicBezTo>
                    <a:pt x="374396" y="70485"/>
                    <a:pt x="374904" y="67945"/>
                    <a:pt x="374904" y="65278"/>
                  </a:cubicBezTo>
                  <a:lnTo>
                    <a:pt x="374904" y="26289"/>
                  </a:lnTo>
                  <a:cubicBezTo>
                    <a:pt x="374904" y="23622"/>
                    <a:pt x="374396" y="20955"/>
                    <a:pt x="373380" y="18542"/>
                  </a:cubicBezTo>
                  <a:cubicBezTo>
                    <a:pt x="372364" y="16002"/>
                    <a:pt x="370840" y="13843"/>
                    <a:pt x="368935" y="11938"/>
                  </a:cubicBezTo>
                  <a:lnTo>
                    <a:pt x="370967" y="9906"/>
                  </a:lnTo>
                  <a:lnTo>
                    <a:pt x="368935" y="11938"/>
                  </a:lnTo>
                  <a:cubicBezTo>
                    <a:pt x="367030" y="10033"/>
                    <a:pt x="364871" y="8509"/>
                    <a:pt x="362331" y="7493"/>
                  </a:cubicBezTo>
                  <a:cubicBezTo>
                    <a:pt x="359791" y="6477"/>
                    <a:pt x="357251" y="5969"/>
                    <a:pt x="354584" y="5969"/>
                  </a:cubicBezTo>
                  <a:lnTo>
                    <a:pt x="26289" y="5969"/>
                  </a:lnTo>
                  <a:close/>
                </a:path>
              </a:pathLst>
            </a:custGeom>
            <a:solidFill>
              <a:srgbClr val="4A2C85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938657" y="4414647"/>
              <a:ext cx="375031" cy="85725"/>
            </a:xfrm>
            <a:custGeom>
              <a:avLst/>
              <a:gdLst/>
              <a:ahLst/>
              <a:cxnLst/>
              <a:rect l="l" t="t" r="r" b="b"/>
              <a:pathLst>
                <a:path w="375031" h="85725">
                  <a:moveTo>
                    <a:pt x="23368" y="0"/>
                  </a:moveTo>
                  <a:lnTo>
                    <a:pt x="351663" y="0"/>
                  </a:lnTo>
                  <a:cubicBezTo>
                    <a:pt x="354711" y="0"/>
                    <a:pt x="357759" y="635"/>
                    <a:pt x="360553" y="1778"/>
                  </a:cubicBezTo>
                  <a:cubicBezTo>
                    <a:pt x="363347" y="2921"/>
                    <a:pt x="365887" y="4699"/>
                    <a:pt x="368173" y="6858"/>
                  </a:cubicBezTo>
                  <a:cubicBezTo>
                    <a:pt x="370459" y="9017"/>
                    <a:pt x="371983" y="11557"/>
                    <a:pt x="373253" y="14478"/>
                  </a:cubicBezTo>
                  <a:cubicBezTo>
                    <a:pt x="374523" y="17399"/>
                    <a:pt x="375031" y="20320"/>
                    <a:pt x="375031" y="23368"/>
                  </a:cubicBezTo>
                  <a:lnTo>
                    <a:pt x="375031" y="62357"/>
                  </a:lnTo>
                  <a:cubicBezTo>
                    <a:pt x="375031" y="65405"/>
                    <a:pt x="374396" y="68453"/>
                    <a:pt x="373253" y="71247"/>
                  </a:cubicBezTo>
                  <a:cubicBezTo>
                    <a:pt x="372110" y="74041"/>
                    <a:pt x="370332" y="76581"/>
                    <a:pt x="368173" y="78867"/>
                  </a:cubicBezTo>
                  <a:cubicBezTo>
                    <a:pt x="366014" y="81153"/>
                    <a:pt x="363474" y="82677"/>
                    <a:pt x="360553" y="83947"/>
                  </a:cubicBezTo>
                  <a:cubicBezTo>
                    <a:pt x="357632" y="85217"/>
                    <a:pt x="354711" y="85725"/>
                    <a:pt x="351663" y="85725"/>
                  </a:cubicBezTo>
                  <a:lnTo>
                    <a:pt x="23368" y="85725"/>
                  </a:lnTo>
                  <a:cubicBezTo>
                    <a:pt x="20320" y="85725"/>
                    <a:pt x="17272" y="85090"/>
                    <a:pt x="14478" y="83947"/>
                  </a:cubicBezTo>
                  <a:cubicBezTo>
                    <a:pt x="11684" y="82804"/>
                    <a:pt x="9144" y="81026"/>
                    <a:pt x="6858" y="78867"/>
                  </a:cubicBezTo>
                  <a:cubicBezTo>
                    <a:pt x="4572" y="76708"/>
                    <a:pt x="3048" y="74168"/>
                    <a:pt x="1778" y="71247"/>
                  </a:cubicBezTo>
                  <a:cubicBezTo>
                    <a:pt x="508" y="68326"/>
                    <a:pt x="0" y="65405"/>
                    <a:pt x="0" y="62357"/>
                  </a:cubicBezTo>
                  <a:lnTo>
                    <a:pt x="0" y="23368"/>
                  </a:lnTo>
                  <a:cubicBezTo>
                    <a:pt x="0" y="20320"/>
                    <a:pt x="635" y="17272"/>
                    <a:pt x="1778" y="14478"/>
                  </a:cubicBezTo>
                  <a:cubicBezTo>
                    <a:pt x="2921" y="11684"/>
                    <a:pt x="4699" y="9144"/>
                    <a:pt x="6858" y="6858"/>
                  </a:cubicBezTo>
                  <a:cubicBezTo>
                    <a:pt x="9017" y="4572"/>
                    <a:pt x="11557" y="3048"/>
                    <a:pt x="14478" y="1778"/>
                  </a:cubicBezTo>
                  <a:cubicBezTo>
                    <a:pt x="17399" y="508"/>
                    <a:pt x="20320" y="0"/>
                    <a:pt x="23368" y="0"/>
                  </a:cubicBezTo>
                  <a:close/>
                </a:path>
              </a:pathLst>
            </a:custGeom>
            <a:solidFill>
              <a:srgbClr val="7A47DE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935736" y="4411726"/>
              <a:ext cx="380873" cy="91567"/>
            </a:xfrm>
            <a:custGeom>
              <a:avLst/>
              <a:gdLst/>
              <a:ahLst/>
              <a:cxnLst/>
              <a:rect l="l" t="t" r="r" b="b"/>
              <a:pathLst>
                <a:path w="380873" h="91567">
                  <a:moveTo>
                    <a:pt x="26289" y="0"/>
                  </a:moveTo>
                  <a:lnTo>
                    <a:pt x="354584" y="0"/>
                  </a:lnTo>
                  <a:lnTo>
                    <a:pt x="354584" y="2921"/>
                  </a:lnTo>
                  <a:lnTo>
                    <a:pt x="354584" y="0"/>
                  </a:lnTo>
                  <a:cubicBezTo>
                    <a:pt x="358013" y="0"/>
                    <a:pt x="361442" y="635"/>
                    <a:pt x="364617" y="2032"/>
                  </a:cubicBezTo>
                  <a:cubicBezTo>
                    <a:pt x="367792" y="3302"/>
                    <a:pt x="370713" y="5207"/>
                    <a:pt x="373126" y="7747"/>
                  </a:cubicBezTo>
                  <a:lnTo>
                    <a:pt x="371094" y="9779"/>
                  </a:lnTo>
                  <a:lnTo>
                    <a:pt x="373126" y="7747"/>
                  </a:lnTo>
                  <a:cubicBezTo>
                    <a:pt x="375539" y="10160"/>
                    <a:pt x="377444" y="13081"/>
                    <a:pt x="378841" y="16256"/>
                  </a:cubicBezTo>
                  <a:lnTo>
                    <a:pt x="376174" y="17399"/>
                  </a:lnTo>
                  <a:lnTo>
                    <a:pt x="378841" y="16256"/>
                  </a:lnTo>
                  <a:cubicBezTo>
                    <a:pt x="380111" y="19431"/>
                    <a:pt x="380873" y="22860"/>
                    <a:pt x="380873" y="26289"/>
                  </a:cubicBezTo>
                  <a:lnTo>
                    <a:pt x="377952" y="26289"/>
                  </a:lnTo>
                  <a:lnTo>
                    <a:pt x="380873" y="26289"/>
                  </a:lnTo>
                  <a:lnTo>
                    <a:pt x="380873" y="65278"/>
                  </a:lnTo>
                  <a:lnTo>
                    <a:pt x="377952" y="65278"/>
                  </a:lnTo>
                  <a:lnTo>
                    <a:pt x="380873" y="65278"/>
                  </a:lnTo>
                  <a:cubicBezTo>
                    <a:pt x="380873" y="68707"/>
                    <a:pt x="380238" y="72136"/>
                    <a:pt x="378841" y="75311"/>
                  </a:cubicBezTo>
                  <a:lnTo>
                    <a:pt x="376174" y="74168"/>
                  </a:lnTo>
                  <a:lnTo>
                    <a:pt x="378841" y="75311"/>
                  </a:lnTo>
                  <a:cubicBezTo>
                    <a:pt x="377571" y="78486"/>
                    <a:pt x="375666" y="81407"/>
                    <a:pt x="373126" y="83820"/>
                  </a:cubicBezTo>
                  <a:cubicBezTo>
                    <a:pt x="370713" y="86233"/>
                    <a:pt x="367792" y="88138"/>
                    <a:pt x="364617" y="89535"/>
                  </a:cubicBezTo>
                  <a:lnTo>
                    <a:pt x="363474" y="86868"/>
                  </a:lnTo>
                  <a:lnTo>
                    <a:pt x="364617" y="89535"/>
                  </a:lnTo>
                  <a:cubicBezTo>
                    <a:pt x="361442" y="90805"/>
                    <a:pt x="358013" y="91567"/>
                    <a:pt x="354584" y="91567"/>
                  </a:cubicBezTo>
                  <a:lnTo>
                    <a:pt x="26289" y="91567"/>
                  </a:lnTo>
                  <a:cubicBezTo>
                    <a:pt x="22860" y="91567"/>
                    <a:pt x="19431" y="90932"/>
                    <a:pt x="16256" y="89535"/>
                  </a:cubicBezTo>
                  <a:cubicBezTo>
                    <a:pt x="13081" y="88265"/>
                    <a:pt x="10160" y="86360"/>
                    <a:pt x="7747" y="83820"/>
                  </a:cubicBezTo>
                  <a:cubicBezTo>
                    <a:pt x="5334" y="81407"/>
                    <a:pt x="3429" y="78486"/>
                    <a:pt x="2032" y="75311"/>
                  </a:cubicBezTo>
                  <a:cubicBezTo>
                    <a:pt x="762" y="72136"/>
                    <a:pt x="0" y="68707"/>
                    <a:pt x="0" y="65278"/>
                  </a:cubicBezTo>
                  <a:lnTo>
                    <a:pt x="2921" y="65278"/>
                  </a:lnTo>
                  <a:lnTo>
                    <a:pt x="0" y="65278"/>
                  </a:lnTo>
                  <a:lnTo>
                    <a:pt x="0" y="26289"/>
                  </a:lnTo>
                  <a:lnTo>
                    <a:pt x="2921" y="26289"/>
                  </a:lnTo>
                  <a:lnTo>
                    <a:pt x="0" y="26289"/>
                  </a:lnTo>
                  <a:cubicBezTo>
                    <a:pt x="0" y="22860"/>
                    <a:pt x="635" y="19431"/>
                    <a:pt x="2032" y="16256"/>
                  </a:cubicBezTo>
                  <a:lnTo>
                    <a:pt x="4699" y="17399"/>
                  </a:lnTo>
                  <a:lnTo>
                    <a:pt x="2032" y="16256"/>
                  </a:lnTo>
                  <a:cubicBezTo>
                    <a:pt x="3302" y="13081"/>
                    <a:pt x="5207" y="10160"/>
                    <a:pt x="7747" y="7747"/>
                  </a:cubicBezTo>
                  <a:lnTo>
                    <a:pt x="9779" y="9779"/>
                  </a:lnTo>
                  <a:lnTo>
                    <a:pt x="7747" y="7747"/>
                  </a:lnTo>
                  <a:cubicBezTo>
                    <a:pt x="10160" y="5334"/>
                    <a:pt x="13081" y="3429"/>
                    <a:pt x="16256" y="2032"/>
                  </a:cubicBezTo>
                  <a:cubicBezTo>
                    <a:pt x="19431" y="762"/>
                    <a:pt x="22860" y="0"/>
                    <a:pt x="26289" y="0"/>
                  </a:cubicBezTo>
                  <a:lnTo>
                    <a:pt x="26289" y="2921"/>
                  </a:lnTo>
                  <a:lnTo>
                    <a:pt x="26289" y="0"/>
                  </a:lnTo>
                  <a:moveTo>
                    <a:pt x="26289" y="5969"/>
                  </a:moveTo>
                  <a:cubicBezTo>
                    <a:pt x="23622" y="5969"/>
                    <a:pt x="20955" y="6477"/>
                    <a:pt x="18542" y="7493"/>
                  </a:cubicBezTo>
                  <a:lnTo>
                    <a:pt x="17399" y="4826"/>
                  </a:lnTo>
                  <a:lnTo>
                    <a:pt x="18542" y="7493"/>
                  </a:lnTo>
                  <a:cubicBezTo>
                    <a:pt x="16002" y="8509"/>
                    <a:pt x="13843" y="10033"/>
                    <a:pt x="11938" y="11938"/>
                  </a:cubicBezTo>
                  <a:cubicBezTo>
                    <a:pt x="10033" y="13843"/>
                    <a:pt x="8509" y="16002"/>
                    <a:pt x="7493" y="18542"/>
                  </a:cubicBezTo>
                  <a:cubicBezTo>
                    <a:pt x="6477" y="21082"/>
                    <a:pt x="5969" y="23622"/>
                    <a:pt x="5969" y="26289"/>
                  </a:cubicBezTo>
                  <a:lnTo>
                    <a:pt x="5969" y="65278"/>
                  </a:lnTo>
                  <a:cubicBezTo>
                    <a:pt x="5969" y="67945"/>
                    <a:pt x="6477" y="70612"/>
                    <a:pt x="7493" y="73025"/>
                  </a:cubicBezTo>
                  <a:lnTo>
                    <a:pt x="4826" y="74168"/>
                  </a:lnTo>
                  <a:lnTo>
                    <a:pt x="7493" y="73025"/>
                  </a:lnTo>
                  <a:cubicBezTo>
                    <a:pt x="8509" y="75565"/>
                    <a:pt x="10033" y="77724"/>
                    <a:pt x="11938" y="79629"/>
                  </a:cubicBezTo>
                  <a:lnTo>
                    <a:pt x="9906" y="81661"/>
                  </a:lnTo>
                  <a:lnTo>
                    <a:pt x="11938" y="79629"/>
                  </a:lnTo>
                  <a:cubicBezTo>
                    <a:pt x="13843" y="81534"/>
                    <a:pt x="16002" y="83058"/>
                    <a:pt x="18542" y="84074"/>
                  </a:cubicBezTo>
                  <a:lnTo>
                    <a:pt x="17399" y="86741"/>
                  </a:lnTo>
                  <a:lnTo>
                    <a:pt x="18542" y="84074"/>
                  </a:lnTo>
                  <a:cubicBezTo>
                    <a:pt x="21082" y="85090"/>
                    <a:pt x="23622" y="85598"/>
                    <a:pt x="26289" y="85598"/>
                  </a:cubicBezTo>
                  <a:lnTo>
                    <a:pt x="26289" y="88519"/>
                  </a:lnTo>
                  <a:lnTo>
                    <a:pt x="26289" y="85598"/>
                  </a:lnTo>
                  <a:lnTo>
                    <a:pt x="354584" y="85598"/>
                  </a:lnTo>
                  <a:lnTo>
                    <a:pt x="354584" y="88519"/>
                  </a:lnTo>
                  <a:lnTo>
                    <a:pt x="354584" y="85598"/>
                  </a:lnTo>
                  <a:cubicBezTo>
                    <a:pt x="357251" y="85598"/>
                    <a:pt x="359918" y="85090"/>
                    <a:pt x="362331" y="84074"/>
                  </a:cubicBezTo>
                  <a:cubicBezTo>
                    <a:pt x="364871" y="83058"/>
                    <a:pt x="367030" y="81534"/>
                    <a:pt x="368935" y="79629"/>
                  </a:cubicBezTo>
                  <a:lnTo>
                    <a:pt x="370967" y="81661"/>
                  </a:lnTo>
                  <a:lnTo>
                    <a:pt x="368935" y="79629"/>
                  </a:lnTo>
                  <a:cubicBezTo>
                    <a:pt x="370840" y="77724"/>
                    <a:pt x="372364" y="75565"/>
                    <a:pt x="373380" y="73025"/>
                  </a:cubicBezTo>
                  <a:cubicBezTo>
                    <a:pt x="374396" y="70485"/>
                    <a:pt x="374904" y="67945"/>
                    <a:pt x="374904" y="65278"/>
                  </a:cubicBezTo>
                  <a:lnTo>
                    <a:pt x="374904" y="26289"/>
                  </a:lnTo>
                  <a:cubicBezTo>
                    <a:pt x="374904" y="23622"/>
                    <a:pt x="374396" y="20955"/>
                    <a:pt x="373380" y="18542"/>
                  </a:cubicBezTo>
                  <a:cubicBezTo>
                    <a:pt x="372364" y="16002"/>
                    <a:pt x="370840" y="13843"/>
                    <a:pt x="368935" y="11938"/>
                  </a:cubicBezTo>
                  <a:cubicBezTo>
                    <a:pt x="367030" y="10033"/>
                    <a:pt x="364871" y="8509"/>
                    <a:pt x="362331" y="7493"/>
                  </a:cubicBezTo>
                  <a:lnTo>
                    <a:pt x="363474" y="4826"/>
                  </a:lnTo>
                  <a:lnTo>
                    <a:pt x="362331" y="7493"/>
                  </a:lnTo>
                  <a:cubicBezTo>
                    <a:pt x="359791" y="6477"/>
                    <a:pt x="357251" y="5969"/>
                    <a:pt x="354584" y="5969"/>
                  </a:cubicBezTo>
                  <a:lnTo>
                    <a:pt x="26289" y="5969"/>
                  </a:lnTo>
                  <a:close/>
                </a:path>
              </a:pathLst>
            </a:custGeom>
            <a:solidFill>
              <a:srgbClr val="4A2C85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345692" y="4457446"/>
              <a:ext cx="1927733" cy="10668"/>
            </a:xfrm>
            <a:custGeom>
              <a:avLst/>
              <a:gdLst/>
              <a:ahLst/>
              <a:cxnLst/>
              <a:rect l="l" t="t" r="r" b="b"/>
              <a:pathLst>
                <a:path w="1927733" h="10668">
                  <a:moveTo>
                    <a:pt x="0" y="0"/>
                  </a:moveTo>
                  <a:lnTo>
                    <a:pt x="1927733" y="0"/>
                  </a:lnTo>
                  <a:lnTo>
                    <a:pt x="1927733" y="10668"/>
                  </a:lnTo>
                  <a:lnTo>
                    <a:pt x="0" y="10668"/>
                  </a:lnTo>
                  <a:close/>
                </a:path>
              </a:pathLst>
            </a:custGeom>
            <a:solidFill>
              <a:srgbClr val="5E25CD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1342771" y="4454525"/>
              <a:ext cx="1933575" cy="16510"/>
            </a:xfrm>
            <a:custGeom>
              <a:avLst/>
              <a:gdLst/>
              <a:ahLst/>
              <a:cxnLst/>
              <a:rect l="l" t="t" r="r" b="b"/>
              <a:pathLst>
                <a:path w="1933575" h="16510">
                  <a:moveTo>
                    <a:pt x="2921" y="0"/>
                  </a:moveTo>
                  <a:lnTo>
                    <a:pt x="1930654" y="0"/>
                  </a:lnTo>
                  <a:cubicBezTo>
                    <a:pt x="1932305" y="0"/>
                    <a:pt x="1933575" y="1270"/>
                    <a:pt x="1933575" y="2921"/>
                  </a:cubicBezTo>
                  <a:lnTo>
                    <a:pt x="1933575" y="13589"/>
                  </a:lnTo>
                  <a:cubicBezTo>
                    <a:pt x="1933575" y="15240"/>
                    <a:pt x="1932305" y="16510"/>
                    <a:pt x="1930654" y="16510"/>
                  </a:cubicBezTo>
                  <a:lnTo>
                    <a:pt x="2921" y="16510"/>
                  </a:lnTo>
                  <a:cubicBezTo>
                    <a:pt x="1270" y="16510"/>
                    <a:pt x="0" y="15240"/>
                    <a:pt x="0" y="13589"/>
                  </a:cubicBezTo>
                  <a:lnTo>
                    <a:pt x="0" y="2921"/>
                  </a:lnTo>
                  <a:cubicBezTo>
                    <a:pt x="0" y="1270"/>
                    <a:pt x="1270" y="0"/>
                    <a:pt x="2921" y="0"/>
                  </a:cubicBezTo>
                  <a:moveTo>
                    <a:pt x="2921" y="5969"/>
                  </a:moveTo>
                  <a:lnTo>
                    <a:pt x="2921" y="3048"/>
                  </a:lnTo>
                  <a:lnTo>
                    <a:pt x="5842" y="3048"/>
                  </a:lnTo>
                  <a:lnTo>
                    <a:pt x="5842" y="13716"/>
                  </a:lnTo>
                  <a:lnTo>
                    <a:pt x="2921" y="13716"/>
                  </a:lnTo>
                  <a:lnTo>
                    <a:pt x="2921" y="10795"/>
                  </a:lnTo>
                  <a:lnTo>
                    <a:pt x="1930654" y="10795"/>
                  </a:lnTo>
                  <a:lnTo>
                    <a:pt x="1930654" y="13716"/>
                  </a:lnTo>
                  <a:lnTo>
                    <a:pt x="1927733" y="13716"/>
                  </a:lnTo>
                  <a:lnTo>
                    <a:pt x="1927733" y="3048"/>
                  </a:lnTo>
                  <a:lnTo>
                    <a:pt x="1930654" y="3048"/>
                  </a:lnTo>
                  <a:lnTo>
                    <a:pt x="1930654" y="5969"/>
                  </a:lnTo>
                  <a:lnTo>
                    <a:pt x="2921" y="5969"/>
                  </a:lnTo>
                  <a:close/>
                </a:path>
              </a:pathLst>
            </a:custGeom>
            <a:solidFill>
              <a:srgbClr val="4A2C85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1005693" y="4414647"/>
              <a:ext cx="374904" cy="85725"/>
            </a:xfrm>
            <a:custGeom>
              <a:avLst/>
              <a:gdLst/>
              <a:ahLst/>
              <a:cxnLst/>
              <a:rect l="l" t="t" r="r" b="b"/>
              <a:pathLst>
                <a:path w="374904" h="85725">
                  <a:moveTo>
                    <a:pt x="23368" y="0"/>
                  </a:moveTo>
                  <a:lnTo>
                    <a:pt x="351536" y="0"/>
                  </a:lnTo>
                  <a:cubicBezTo>
                    <a:pt x="354584" y="0"/>
                    <a:pt x="357632" y="635"/>
                    <a:pt x="360426" y="1778"/>
                  </a:cubicBezTo>
                  <a:cubicBezTo>
                    <a:pt x="363220" y="2921"/>
                    <a:pt x="365760" y="4699"/>
                    <a:pt x="368046" y="6858"/>
                  </a:cubicBezTo>
                  <a:cubicBezTo>
                    <a:pt x="370332" y="9017"/>
                    <a:pt x="371856" y="11557"/>
                    <a:pt x="373126" y="14478"/>
                  </a:cubicBezTo>
                  <a:cubicBezTo>
                    <a:pt x="374396" y="17399"/>
                    <a:pt x="374904" y="20320"/>
                    <a:pt x="374904" y="23368"/>
                  </a:cubicBezTo>
                  <a:lnTo>
                    <a:pt x="374904" y="62357"/>
                  </a:lnTo>
                  <a:cubicBezTo>
                    <a:pt x="374904" y="65405"/>
                    <a:pt x="374269" y="68453"/>
                    <a:pt x="373126" y="71247"/>
                  </a:cubicBezTo>
                  <a:cubicBezTo>
                    <a:pt x="371983" y="74041"/>
                    <a:pt x="370205" y="76581"/>
                    <a:pt x="368046" y="78867"/>
                  </a:cubicBezTo>
                  <a:cubicBezTo>
                    <a:pt x="365887" y="81153"/>
                    <a:pt x="363347" y="82677"/>
                    <a:pt x="360426" y="83947"/>
                  </a:cubicBezTo>
                  <a:cubicBezTo>
                    <a:pt x="357505" y="85217"/>
                    <a:pt x="354584" y="85725"/>
                    <a:pt x="351536" y="85725"/>
                  </a:cubicBezTo>
                  <a:lnTo>
                    <a:pt x="23368" y="85725"/>
                  </a:lnTo>
                  <a:cubicBezTo>
                    <a:pt x="20320" y="85725"/>
                    <a:pt x="17272" y="85090"/>
                    <a:pt x="14478" y="83947"/>
                  </a:cubicBezTo>
                  <a:cubicBezTo>
                    <a:pt x="11684" y="82804"/>
                    <a:pt x="9144" y="81026"/>
                    <a:pt x="6858" y="78867"/>
                  </a:cubicBezTo>
                  <a:cubicBezTo>
                    <a:pt x="4572" y="76708"/>
                    <a:pt x="3048" y="74168"/>
                    <a:pt x="1778" y="71247"/>
                  </a:cubicBezTo>
                  <a:cubicBezTo>
                    <a:pt x="508" y="68326"/>
                    <a:pt x="0" y="65405"/>
                    <a:pt x="0" y="62357"/>
                  </a:cubicBezTo>
                  <a:lnTo>
                    <a:pt x="0" y="23368"/>
                  </a:lnTo>
                  <a:cubicBezTo>
                    <a:pt x="0" y="20320"/>
                    <a:pt x="635" y="17272"/>
                    <a:pt x="1778" y="14478"/>
                  </a:cubicBezTo>
                  <a:cubicBezTo>
                    <a:pt x="2921" y="11684"/>
                    <a:pt x="4699" y="9144"/>
                    <a:pt x="6858" y="6858"/>
                  </a:cubicBezTo>
                  <a:cubicBezTo>
                    <a:pt x="9017" y="4572"/>
                    <a:pt x="11557" y="3048"/>
                    <a:pt x="14478" y="1778"/>
                  </a:cubicBezTo>
                  <a:cubicBezTo>
                    <a:pt x="17399" y="508"/>
                    <a:pt x="20320" y="0"/>
                    <a:pt x="23368" y="0"/>
                  </a:cubicBezTo>
                  <a:close/>
                </a:path>
              </a:pathLst>
            </a:custGeom>
            <a:solidFill>
              <a:srgbClr val="9D78E7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1002772" y="4411726"/>
              <a:ext cx="380746" cy="91567"/>
            </a:xfrm>
            <a:custGeom>
              <a:avLst/>
              <a:gdLst/>
              <a:ahLst/>
              <a:cxnLst/>
              <a:rect l="l" t="t" r="r" b="b"/>
              <a:pathLst>
                <a:path w="380746" h="91567">
                  <a:moveTo>
                    <a:pt x="26289" y="0"/>
                  </a:moveTo>
                  <a:lnTo>
                    <a:pt x="354457" y="0"/>
                  </a:lnTo>
                  <a:lnTo>
                    <a:pt x="354457" y="2921"/>
                  </a:lnTo>
                  <a:lnTo>
                    <a:pt x="354457" y="0"/>
                  </a:lnTo>
                  <a:cubicBezTo>
                    <a:pt x="357886" y="0"/>
                    <a:pt x="361315" y="635"/>
                    <a:pt x="364490" y="2032"/>
                  </a:cubicBezTo>
                  <a:cubicBezTo>
                    <a:pt x="367665" y="3302"/>
                    <a:pt x="370586" y="5207"/>
                    <a:pt x="372999" y="7747"/>
                  </a:cubicBezTo>
                  <a:cubicBezTo>
                    <a:pt x="375412" y="10160"/>
                    <a:pt x="377317" y="13081"/>
                    <a:pt x="378714" y="16256"/>
                  </a:cubicBezTo>
                  <a:lnTo>
                    <a:pt x="376047" y="17399"/>
                  </a:lnTo>
                  <a:lnTo>
                    <a:pt x="378714" y="16256"/>
                  </a:lnTo>
                  <a:cubicBezTo>
                    <a:pt x="379984" y="19431"/>
                    <a:pt x="380746" y="22860"/>
                    <a:pt x="380746" y="26289"/>
                  </a:cubicBezTo>
                  <a:lnTo>
                    <a:pt x="380746" y="65278"/>
                  </a:lnTo>
                  <a:cubicBezTo>
                    <a:pt x="380746" y="68707"/>
                    <a:pt x="380111" y="72136"/>
                    <a:pt x="378714" y="75311"/>
                  </a:cubicBezTo>
                  <a:lnTo>
                    <a:pt x="376047" y="74168"/>
                  </a:lnTo>
                  <a:lnTo>
                    <a:pt x="378714" y="75311"/>
                  </a:lnTo>
                  <a:cubicBezTo>
                    <a:pt x="377444" y="78486"/>
                    <a:pt x="375539" y="81407"/>
                    <a:pt x="372999" y="83820"/>
                  </a:cubicBezTo>
                  <a:cubicBezTo>
                    <a:pt x="370586" y="86233"/>
                    <a:pt x="367665" y="88138"/>
                    <a:pt x="364490" y="89535"/>
                  </a:cubicBezTo>
                  <a:cubicBezTo>
                    <a:pt x="361315" y="90805"/>
                    <a:pt x="357886" y="91567"/>
                    <a:pt x="354457" y="91567"/>
                  </a:cubicBezTo>
                  <a:lnTo>
                    <a:pt x="26289" y="91567"/>
                  </a:lnTo>
                  <a:cubicBezTo>
                    <a:pt x="22860" y="91567"/>
                    <a:pt x="19431" y="90932"/>
                    <a:pt x="16256" y="89535"/>
                  </a:cubicBezTo>
                  <a:cubicBezTo>
                    <a:pt x="13081" y="88265"/>
                    <a:pt x="10160" y="86360"/>
                    <a:pt x="7747" y="83820"/>
                  </a:cubicBezTo>
                  <a:lnTo>
                    <a:pt x="9779" y="81788"/>
                  </a:lnTo>
                  <a:lnTo>
                    <a:pt x="7747" y="83820"/>
                  </a:lnTo>
                  <a:cubicBezTo>
                    <a:pt x="5334" y="81407"/>
                    <a:pt x="3429" y="78486"/>
                    <a:pt x="2032" y="75311"/>
                  </a:cubicBezTo>
                  <a:lnTo>
                    <a:pt x="4699" y="74168"/>
                  </a:lnTo>
                  <a:lnTo>
                    <a:pt x="2032" y="75311"/>
                  </a:lnTo>
                  <a:cubicBezTo>
                    <a:pt x="635" y="72136"/>
                    <a:pt x="0" y="68707"/>
                    <a:pt x="0" y="65278"/>
                  </a:cubicBezTo>
                  <a:lnTo>
                    <a:pt x="2921" y="65278"/>
                  </a:lnTo>
                  <a:lnTo>
                    <a:pt x="0" y="65278"/>
                  </a:lnTo>
                  <a:lnTo>
                    <a:pt x="0" y="26289"/>
                  </a:lnTo>
                  <a:lnTo>
                    <a:pt x="2921" y="26289"/>
                  </a:lnTo>
                  <a:lnTo>
                    <a:pt x="0" y="26289"/>
                  </a:lnTo>
                  <a:cubicBezTo>
                    <a:pt x="0" y="22860"/>
                    <a:pt x="635" y="19431"/>
                    <a:pt x="2032" y="16256"/>
                  </a:cubicBezTo>
                  <a:lnTo>
                    <a:pt x="4699" y="17399"/>
                  </a:lnTo>
                  <a:lnTo>
                    <a:pt x="2032" y="16256"/>
                  </a:lnTo>
                  <a:cubicBezTo>
                    <a:pt x="3302" y="13081"/>
                    <a:pt x="5207" y="10160"/>
                    <a:pt x="7747" y="7747"/>
                  </a:cubicBezTo>
                  <a:lnTo>
                    <a:pt x="9779" y="9779"/>
                  </a:lnTo>
                  <a:lnTo>
                    <a:pt x="7747" y="7747"/>
                  </a:lnTo>
                  <a:cubicBezTo>
                    <a:pt x="10160" y="5334"/>
                    <a:pt x="13081" y="3429"/>
                    <a:pt x="16256" y="2032"/>
                  </a:cubicBezTo>
                  <a:cubicBezTo>
                    <a:pt x="19431" y="762"/>
                    <a:pt x="22860" y="0"/>
                    <a:pt x="26289" y="0"/>
                  </a:cubicBezTo>
                  <a:lnTo>
                    <a:pt x="26289" y="2921"/>
                  </a:lnTo>
                  <a:lnTo>
                    <a:pt x="26289" y="0"/>
                  </a:lnTo>
                  <a:moveTo>
                    <a:pt x="26289" y="5969"/>
                  </a:moveTo>
                  <a:cubicBezTo>
                    <a:pt x="23622" y="5969"/>
                    <a:pt x="20955" y="6477"/>
                    <a:pt x="18542" y="7493"/>
                  </a:cubicBezTo>
                  <a:lnTo>
                    <a:pt x="17399" y="4826"/>
                  </a:lnTo>
                  <a:lnTo>
                    <a:pt x="18542" y="7493"/>
                  </a:lnTo>
                  <a:cubicBezTo>
                    <a:pt x="16002" y="8509"/>
                    <a:pt x="13843" y="10033"/>
                    <a:pt x="11938" y="11938"/>
                  </a:cubicBezTo>
                  <a:cubicBezTo>
                    <a:pt x="10033" y="13843"/>
                    <a:pt x="8509" y="16002"/>
                    <a:pt x="7493" y="18542"/>
                  </a:cubicBezTo>
                  <a:cubicBezTo>
                    <a:pt x="6477" y="21082"/>
                    <a:pt x="5969" y="23622"/>
                    <a:pt x="5969" y="26289"/>
                  </a:cubicBezTo>
                  <a:lnTo>
                    <a:pt x="5969" y="65278"/>
                  </a:lnTo>
                  <a:cubicBezTo>
                    <a:pt x="5969" y="67945"/>
                    <a:pt x="6477" y="70612"/>
                    <a:pt x="7493" y="73025"/>
                  </a:cubicBezTo>
                  <a:cubicBezTo>
                    <a:pt x="8509" y="75565"/>
                    <a:pt x="10033" y="77724"/>
                    <a:pt x="11938" y="79629"/>
                  </a:cubicBezTo>
                  <a:cubicBezTo>
                    <a:pt x="13843" y="81534"/>
                    <a:pt x="16002" y="83058"/>
                    <a:pt x="18542" y="84074"/>
                  </a:cubicBezTo>
                  <a:lnTo>
                    <a:pt x="17399" y="86741"/>
                  </a:lnTo>
                  <a:lnTo>
                    <a:pt x="18542" y="84074"/>
                  </a:lnTo>
                  <a:cubicBezTo>
                    <a:pt x="21082" y="85090"/>
                    <a:pt x="23622" y="85598"/>
                    <a:pt x="26289" y="85598"/>
                  </a:cubicBezTo>
                  <a:lnTo>
                    <a:pt x="26289" y="88519"/>
                  </a:lnTo>
                  <a:lnTo>
                    <a:pt x="26289" y="85598"/>
                  </a:lnTo>
                  <a:lnTo>
                    <a:pt x="354457" y="85598"/>
                  </a:lnTo>
                  <a:lnTo>
                    <a:pt x="354457" y="88519"/>
                  </a:lnTo>
                  <a:lnTo>
                    <a:pt x="354457" y="85598"/>
                  </a:lnTo>
                  <a:cubicBezTo>
                    <a:pt x="357124" y="85598"/>
                    <a:pt x="359791" y="85090"/>
                    <a:pt x="362204" y="84074"/>
                  </a:cubicBezTo>
                  <a:lnTo>
                    <a:pt x="363347" y="86741"/>
                  </a:lnTo>
                  <a:lnTo>
                    <a:pt x="362204" y="84074"/>
                  </a:lnTo>
                  <a:cubicBezTo>
                    <a:pt x="364744" y="83058"/>
                    <a:pt x="366903" y="81534"/>
                    <a:pt x="368808" y="79629"/>
                  </a:cubicBezTo>
                  <a:lnTo>
                    <a:pt x="370840" y="81661"/>
                  </a:lnTo>
                  <a:lnTo>
                    <a:pt x="368808" y="79629"/>
                  </a:lnTo>
                  <a:cubicBezTo>
                    <a:pt x="370713" y="77724"/>
                    <a:pt x="372237" y="75565"/>
                    <a:pt x="373253" y="73025"/>
                  </a:cubicBezTo>
                  <a:cubicBezTo>
                    <a:pt x="374269" y="70485"/>
                    <a:pt x="374777" y="67945"/>
                    <a:pt x="374777" y="65278"/>
                  </a:cubicBezTo>
                  <a:lnTo>
                    <a:pt x="377698" y="65278"/>
                  </a:lnTo>
                  <a:lnTo>
                    <a:pt x="374777" y="65278"/>
                  </a:lnTo>
                  <a:lnTo>
                    <a:pt x="374777" y="26289"/>
                  </a:lnTo>
                  <a:lnTo>
                    <a:pt x="377698" y="26289"/>
                  </a:lnTo>
                  <a:lnTo>
                    <a:pt x="374777" y="26289"/>
                  </a:lnTo>
                  <a:cubicBezTo>
                    <a:pt x="374777" y="23622"/>
                    <a:pt x="374269" y="20955"/>
                    <a:pt x="373253" y="18542"/>
                  </a:cubicBezTo>
                  <a:cubicBezTo>
                    <a:pt x="372237" y="16002"/>
                    <a:pt x="370713" y="13843"/>
                    <a:pt x="368808" y="11938"/>
                  </a:cubicBezTo>
                  <a:lnTo>
                    <a:pt x="370840" y="9906"/>
                  </a:lnTo>
                  <a:lnTo>
                    <a:pt x="368808" y="11938"/>
                  </a:lnTo>
                  <a:cubicBezTo>
                    <a:pt x="366903" y="10033"/>
                    <a:pt x="364744" y="8509"/>
                    <a:pt x="362204" y="7493"/>
                  </a:cubicBezTo>
                  <a:lnTo>
                    <a:pt x="363347" y="4826"/>
                  </a:lnTo>
                  <a:lnTo>
                    <a:pt x="362204" y="7493"/>
                  </a:lnTo>
                  <a:cubicBezTo>
                    <a:pt x="359664" y="6477"/>
                    <a:pt x="357124" y="5969"/>
                    <a:pt x="354457" y="5969"/>
                  </a:cubicBezTo>
                  <a:lnTo>
                    <a:pt x="26289" y="5969"/>
                  </a:lnTo>
                  <a:close/>
                </a:path>
              </a:pathLst>
            </a:custGeom>
            <a:solidFill>
              <a:srgbClr val="4A2C8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8981567" y="4457446"/>
              <a:ext cx="1927733" cy="10668"/>
            </a:xfrm>
            <a:custGeom>
              <a:avLst/>
              <a:gdLst/>
              <a:ahLst/>
              <a:cxnLst/>
              <a:rect l="l" t="t" r="r" b="b"/>
              <a:pathLst>
                <a:path w="1927733" h="10668">
                  <a:moveTo>
                    <a:pt x="0" y="0"/>
                  </a:moveTo>
                  <a:lnTo>
                    <a:pt x="1927733" y="0"/>
                  </a:lnTo>
                  <a:lnTo>
                    <a:pt x="1927733" y="10668"/>
                  </a:lnTo>
                  <a:lnTo>
                    <a:pt x="0" y="10668"/>
                  </a:lnTo>
                  <a:close/>
                </a:path>
              </a:pathLst>
            </a:custGeom>
            <a:solidFill>
              <a:srgbClr val="7E4CD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8978647" y="4454525"/>
              <a:ext cx="1933574" cy="16510"/>
            </a:xfrm>
            <a:custGeom>
              <a:avLst/>
              <a:gdLst/>
              <a:ahLst/>
              <a:cxnLst/>
              <a:rect l="l" t="t" r="r" b="b"/>
              <a:pathLst>
                <a:path w="1933574" h="16510">
                  <a:moveTo>
                    <a:pt x="2920" y="0"/>
                  </a:moveTo>
                  <a:lnTo>
                    <a:pt x="1930653" y="0"/>
                  </a:lnTo>
                  <a:cubicBezTo>
                    <a:pt x="1932304" y="0"/>
                    <a:pt x="1933574" y="1270"/>
                    <a:pt x="1933574" y="2921"/>
                  </a:cubicBezTo>
                  <a:lnTo>
                    <a:pt x="1933574" y="13589"/>
                  </a:lnTo>
                  <a:cubicBezTo>
                    <a:pt x="1933574" y="15240"/>
                    <a:pt x="1932304" y="16510"/>
                    <a:pt x="1930653" y="16510"/>
                  </a:cubicBezTo>
                  <a:lnTo>
                    <a:pt x="2920" y="16510"/>
                  </a:lnTo>
                  <a:cubicBezTo>
                    <a:pt x="1269" y="16510"/>
                    <a:pt x="0" y="15240"/>
                    <a:pt x="0" y="13589"/>
                  </a:cubicBezTo>
                  <a:lnTo>
                    <a:pt x="0" y="2921"/>
                  </a:lnTo>
                  <a:cubicBezTo>
                    <a:pt x="0" y="1270"/>
                    <a:pt x="1269" y="0"/>
                    <a:pt x="2920" y="0"/>
                  </a:cubicBezTo>
                  <a:moveTo>
                    <a:pt x="2920" y="5969"/>
                  </a:moveTo>
                  <a:lnTo>
                    <a:pt x="2920" y="3048"/>
                  </a:lnTo>
                  <a:lnTo>
                    <a:pt x="5841" y="3048"/>
                  </a:lnTo>
                  <a:lnTo>
                    <a:pt x="5841" y="13716"/>
                  </a:lnTo>
                  <a:lnTo>
                    <a:pt x="2920" y="13716"/>
                  </a:lnTo>
                  <a:lnTo>
                    <a:pt x="2920" y="10795"/>
                  </a:lnTo>
                  <a:lnTo>
                    <a:pt x="1930653" y="10795"/>
                  </a:lnTo>
                  <a:lnTo>
                    <a:pt x="1930653" y="13716"/>
                  </a:lnTo>
                  <a:lnTo>
                    <a:pt x="1927732" y="13716"/>
                  </a:lnTo>
                  <a:lnTo>
                    <a:pt x="1927732" y="3048"/>
                  </a:lnTo>
                  <a:lnTo>
                    <a:pt x="1930653" y="3048"/>
                  </a:lnTo>
                  <a:lnTo>
                    <a:pt x="1930653" y="5969"/>
                  </a:lnTo>
                  <a:lnTo>
                    <a:pt x="2920" y="5969"/>
                  </a:lnTo>
                  <a:close/>
                </a:path>
              </a:pathLst>
            </a:custGeom>
            <a:solidFill>
              <a:srgbClr val="4A2C85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1005693" y="3568573"/>
              <a:ext cx="374904" cy="85725"/>
            </a:xfrm>
            <a:custGeom>
              <a:avLst/>
              <a:gdLst/>
              <a:ahLst/>
              <a:cxnLst/>
              <a:rect l="l" t="t" r="r" b="b"/>
              <a:pathLst>
                <a:path w="374904" h="85725">
                  <a:moveTo>
                    <a:pt x="23368" y="0"/>
                  </a:moveTo>
                  <a:lnTo>
                    <a:pt x="351536" y="0"/>
                  </a:lnTo>
                  <a:cubicBezTo>
                    <a:pt x="354584" y="0"/>
                    <a:pt x="357632" y="635"/>
                    <a:pt x="360426" y="1778"/>
                  </a:cubicBezTo>
                  <a:cubicBezTo>
                    <a:pt x="363220" y="2921"/>
                    <a:pt x="365760" y="4699"/>
                    <a:pt x="368046" y="6858"/>
                  </a:cubicBezTo>
                  <a:cubicBezTo>
                    <a:pt x="370332" y="9017"/>
                    <a:pt x="371856" y="11557"/>
                    <a:pt x="373126" y="14478"/>
                  </a:cubicBezTo>
                  <a:cubicBezTo>
                    <a:pt x="374396" y="17399"/>
                    <a:pt x="374904" y="20320"/>
                    <a:pt x="374904" y="23368"/>
                  </a:cubicBezTo>
                  <a:lnTo>
                    <a:pt x="374904" y="62357"/>
                  </a:lnTo>
                  <a:cubicBezTo>
                    <a:pt x="374904" y="65405"/>
                    <a:pt x="374269" y="68453"/>
                    <a:pt x="373126" y="71247"/>
                  </a:cubicBezTo>
                  <a:cubicBezTo>
                    <a:pt x="371983" y="74041"/>
                    <a:pt x="370205" y="76581"/>
                    <a:pt x="368046" y="78867"/>
                  </a:cubicBezTo>
                  <a:cubicBezTo>
                    <a:pt x="365887" y="81153"/>
                    <a:pt x="363347" y="82677"/>
                    <a:pt x="360426" y="83947"/>
                  </a:cubicBezTo>
                  <a:cubicBezTo>
                    <a:pt x="357505" y="85217"/>
                    <a:pt x="354584" y="85725"/>
                    <a:pt x="351536" y="85725"/>
                  </a:cubicBezTo>
                  <a:lnTo>
                    <a:pt x="23368" y="85725"/>
                  </a:lnTo>
                  <a:cubicBezTo>
                    <a:pt x="20320" y="85725"/>
                    <a:pt x="17272" y="85090"/>
                    <a:pt x="14478" y="83947"/>
                  </a:cubicBezTo>
                  <a:cubicBezTo>
                    <a:pt x="11684" y="82804"/>
                    <a:pt x="9144" y="81026"/>
                    <a:pt x="6858" y="78867"/>
                  </a:cubicBezTo>
                  <a:cubicBezTo>
                    <a:pt x="4572" y="76708"/>
                    <a:pt x="3048" y="74168"/>
                    <a:pt x="1778" y="71247"/>
                  </a:cubicBezTo>
                  <a:cubicBezTo>
                    <a:pt x="508" y="68326"/>
                    <a:pt x="0" y="65405"/>
                    <a:pt x="0" y="62357"/>
                  </a:cubicBezTo>
                  <a:lnTo>
                    <a:pt x="0" y="23368"/>
                  </a:lnTo>
                  <a:cubicBezTo>
                    <a:pt x="0" y="20320"/>
                    <a:pt x="635" y="17272"/>
                    <a:pt x="1778" y="14478"/>
                  </a:cubicBezTo>
                  <a:cubicBezTo>
                    <a:pt x="2921" y="11684"/>
                    <a:pt x="4699" y="9144"/>
                    <a:pt x="6858" y="6858"/>
                  </a:cubicBezTo>
                  <a:cubicBezTo>
                    <a:pt x="9017" y="4572"/>
                    <a:pt x="11557" y="3048"/>
                    <a:pt x="14478" y="1778"/>
                  </a:cubicBezTo>
                  <a:cubicBezTo>
                    <a:pt x="17399" y="508"/>
                    <a:pt x="20320" y="0"/>
                    <a:pt x="23368" y="0"/>
                  </a:cubicBezTo>
                  <a:close/>
                </a:path>
              </a:pathLst>
            </a:custGeom>
            <a:solidFill>
              <a:srgbClr val="5B24C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1002772" y="3565652"/>
              <a:ext cx="380746" cy="91567"/>
            </a:xfrm>
            <a:custGeom>
              <a:avLst/>
              <a:gdLst/>
              <a:ahLst/>
              <a:cxnLst/>
              <a:rect l="l" t="t" r="r" b="b"/>
              <a:pathLst>
                <a:path w="380746" h="91567">
                  <a:moveTo>
                    <a:pt x="26289" y="0"/>
                  </a:moveTo>
                  <a:lnTo>
                    <a:pt x="354457" y="0"/>
                  </a:lnTo>
                  <a:lnTo>
                    <a:pt x="354457" y="2921"/>
                  </a:lnTo>
                  <a:lnTo>
                    <a:pt x="354457" y="0"/>
                  </a:lnTo>
                  <a:cubicBezTo>
                    <a:pt x="357886" y="0"/>
                    <a:pt x="361315" y="635"/>
                    <a:pt x="364490" y="2032"/>
                  </a:cubicBezTo>
                  <a:cubicBezTo>
                    <a:pt x="367665" y="3302"/>
                    <a:pt x="370586" y="5207"/>
                    <a:pt x="372999" y="7747"/>
                  </a:cubicBezTo>
                  <a:cubicBezTo>
                    <a:pt x="375412" y="10160"/>
                    <a:pt x="377317" y="13081"/>
                    <a:pt x="378714" y="16256"/>
                  </a:cubicBezTo>
                  <a:lnTo>
                    <a:pt x="376047" y="17399"/>
                  </a:lnTo>
                  <a:lnTo>
                    <a:pt x="378714" y="16256"/>
                  </a:lnTo>
                  <a:cubicBezTo>
                    <a:pt x="379984" y="19431"/>
                    <a:pt x="380746" y="22860"/>
                    <a:pt x="380746" y="26289"/>
                  </a:cubicBezTo>
                  <a:lnTo>
                    <a:pt x="380746" y="65278"/>
                  </a:lnTo>
                  <a:cubicBezTo>
                    <a:pt x="380746" y="68707"/>
                    <a:pt x="380111" y="72136"/>
                    <a:pt x="378714" y="75311"/>
                  </a:cubicBezTo>
                  <a:lnTo>
                    <a:pt x="376047" y="74168"/>
                  </a:lnTo>
                  <a:lnTo>
                    <a:pt x="378714" y="75311"/>
                  </a:lnTo>
                  <a:cubicBezTo>
                    <a:pt x="377444" y="78486"/>
                    <a:pt x="375539" y="81407"/>
                    <a:pt x="372999" y="83820"/>
                  </a:cubicBezTo>
                  <a:cubicBezTo>
                    <a:pt x="370586" y="86233"/>
                    <a:pt x="367665" y="88138"/>
                    <a:pt x="364490" y="89535"/>
                  </a:cubicBezTo>
                  <a:cubicBezTo>
                    <a:pt x="361315" y="90805"/>
                    <a:pt x="357886" y="91567"/>
                    <a:pt x="354457" y="91567"/>
                  </a:cubicBezTo>
                  <a:lnTo>
                    <a:pt x="354457" y="88646"/>
                  </a:lnTo>
                  <a:lnTo>
                    <a:pt x="354457" y="91567"/>
                  </a:lnTo>
                  <a:lnTo>
                    <a:pt x="26289" y="91567"/>
                  </a:lnTo>
                  <a:lnTo>
                    <a:pt x="26289" y="88646"/>
                  </a:lnTo>
                  <a:lnTo>
                    <a:pt x="26289" y="91567"/>
                  </a:lnTo>
                  <a:cubicBezTo>
                    <a:pt x="22860" y="91567"/>
                    <a:pt x="19431" y="90932"/>
                    <a:pt x="16256" y="89535"/>
                  </a:cubicBezTo>
                  <a:cubicBezTo>
                    <a:pt x="13081" y="88265"/>
                    <a:pt x="10160" y="86360"/>
                    <a:pt x="7747" y="83820"/>
                  </a:cubicBezTo>
                  <a:lnTo>
                    <a:pt x="9779" y="81788"/>
                  </a:lnTo>
                  <a:lnTo>
                    <a:pt x="7747" y="83820"/>
                  </a:lnTo>
                  <a:cubicBezTo>
                    <a:pt x="5334" y="81407"/>
                    <a:pt x="3429" y="78486"/>
                    <a:pt x="2032" y="75311"/>
                  </a:cubicBezTo>
                  <a:lnTo>
                    <a:pt x="4699" y="74168"/>
                  </a:lnTo>
                  <a:lnTo>
                    <a:pt x="2032" y="75311"/>
                  </a:lnTo>
                  <a:cubicBezTo>
                    <a:pt x="635" y="72136"/>
                    <a:pt x="0" y="68707"/>
                    <a:pt x="0" y="65278"/>
                  </a:cubicBezTo>
                  <a:lnTo>
                    <a:pt x="2921" y="65278"/>
                  </a:lnTo>
                  <a:lnTo>
                    <a:pt x="0" y="65278"/>
                  </a:lnTo>
                  <a:lnTo>
                    <a:pt x="0" y="26289"/>
                  </a:lnTo>
                  <a:lnTo>
                    <a:pt x="2921" y="26289"/>
                  </a:lnTo>
                  <a:lnTo>
                    <a:pt x="0" y="26289"/>
                  </a:lnTo>
                  <a:cubicBezTo>
                    <a:pt x="0" y="22860"/>
                    <a:pt x="635" y="19431"/>
                    <a:pt x="2032" y="16256"/>
                  </a:cubicBezTo>
                  <a:lnTo>
                    <a:pt x="4699" y="17399"/>
                  </a:lnTo>
                  <a:lnTo>
                    <a:pt x="2032" y="16256"/>
                  </a:lnTo>
                  <a:cubicBezTo>
                    <a:pt x="3302" y="13081"/>
                    <a:pt x="5207" y="10160"/>
                    <a:pt x="7747" y="7747"/>
                  </a:cubicBezTo>
                  <a:lnTo>
                    <a:pt x="9779" y="9779"/>
                  </a:lnTo>
                  <a:lnTo>
                    <a:pt x="7747" y="7747"/>
                  </a:lnTo>
                  <a:cubicBezTo>
                    <a:pt x="10160" y="5334"/>
                    <a:pt x="13081" y="3429"/>
                    <a:pt x="16256" y="2032"/>
                  </a:cubicBezTo>
                  <a:cubicBezTo>
                    <a:pt x="19431" y="762"/>
                    <a:pt x="22860" y="0"/>
                    <a:pt x="26289" y="0"/>
                  </a:cubicBezTo>
                  <a:lnTo>
                    <a:pt x="26289" y="2921"/>
                  </a:lnTo>
                  <a:lnTo>
                    <a:pt x="26289" y="0"/>
                  </a:lnTo>
                  <a:moveTo>
                    <a:pt x="26289" y="5969"/>
                  </a:moveTo>
                  <a:cubicBezTo>
                    <a:pt x="23622" y="5969"/>
                    <a:pt x="20955" y="6477"/>
                    <a:pt x="18542" y="7493"/>
                  </a:cubicBezTo>
                  <a:lnTo>
                    <a:pt x="17399" y="4826"/>
                  </a:lnTo>
                  <a:lnTo>
                    <a:pt x="18542" y="7493"/>
                  </a:lnTo>
                  <a:cubicBezTo>
                    <a:pt x="16002" y="8509"/>
                    <a:pt x="13843" y="10033"/>
                    <a:pt x="11938" y="11938"/>
                  </a:cubicBezTo>
                  <a:cubicBezTo>
                    <a:pt x="10033" y="13843"/>
                    <a:pt x="8509" y="16002"/>
                    <a:pt x="7493" y="18542"/>
                  </a:cubicBezTo>
                  <a:cubicBezTo>
                    <a:pt x="6477" y="21082"/>
                    <a:pt x="5969" y="23622"/>
                    <a:pt x="5969" y="26289"/>
                  </a:cubicBezTo>
                  <a:lnTo>
                    <a:pt x="5969" y="65278"/>
                  </a:lnTo>
                  <a:cubicBezTo>
                    <a:pt x="5969" y="67945"/>
                    <a:pt x="6477" y="70612"/>
                    <a:pt x="7493" y="73025"/>
                  </a:cubicBezTo>
                  <a:cubicBezTo>
                    <a:pt x="8509" y="75565"/>
                    <a:pt x="10033" y="77724"/>
                    <a:pt x="11938" y="79629"/>
                  </a:cubicBezTo>
                  <a:cubicBezTo>
                    <a:pt x="13843" y="81534"/>
                    <a:pt x="16002" y="83058"/>
                    <a:pt x="18542" y="84074"/>
                  </a:cubicBezTo>
                  <a:lnTo>
                    <a:pt x="17399" y="86741"/>
                  </a:lnTo>
                  <a:lnTo>
                    <a:pt x="18542" y="84074"/>
                  </a:lnTo>
                  <a:cubicBezTo>
                    <a:pt x="21082" y="85090"/>
                    <a:pt x="23622" y="85598"/>
                    <a:pt x="26289" y="85598"/>
                  </a:cubicBezTo>
                  <a:lnTo>
                    <a:pt x="354457" y="85598"/>
                  </a:lnTo>
                  <a:cubicBezTo>
                    <a:pt x="357124" y="85598"/>
                    <a:pt x="359791" y="85090"/>
                    <a:pt x="362204" y="84074"/>
                  </a:cubicBezTo>
                  <a:lnTo>
                    <a:pt x="363347" y="86741"/>
                  </a:lnTo>
                  <a:lnTo>
                    <a:pt x="362204" y="84074"/>
                  </a:lnTo>
                  <a:cubicBezTo>
                    <a:pt x="364744" y="83058"/>
                    <a:pt x="366903" y="81534"/>
                    <a:pt x="368808" y="79629"/>
                  </a:cubicBezTo>
                  <a:lnTo>
                    <a:pt x="370840" y="81661"/>
                  </a:lnTo>
                  <a:lnTo>
                    <a:pt x="368808" y="79629"/>
                  </a:lnTo>
                  <a:cubicBezTo>
                    <a:pt x="370713" y="77724"/>
                    <a:pt x="372237" y="75565"/>
                    <a:pt x="373253" y="73025"/>
                  </a:cubicBezTo>
                  <a:cubicBezTo>
                    <a:pt x="374269" y="70485"/>
                    <a:pt x="374777" y="67945"/>
                    <a:pt x="374777" y="65278"/>
                  </a:cubicBezTo>
                  <a:lnTo>
                    <a:pt x="377698" y="65278"/>
                  </a:lnTo>
                  <a:lnTo>
                    <a:pt x="374777" y="65278"/>
                  </a:lnTo>
                  <a:lnTo>
                    <a:pt x="374777" y="26289"/>
                  </a:lnTo>
                  <a:lnTo>
                    <a:pt x="377698" y="26289"/>
                  </a:lnTo>
                  <a:lnTo>
                    <a:pt x="374777" y="26289"/>
                  </a:lnTo>
                  <a:cubicBezTo>
                    <a:pt x="374777" y="23622"/>
                    <a:pt x="374269" y="20955"/>
                    <a:pt x="373253" y="18542"/>
                  </a:cubicBezTo>
                  <a:cubicBezTo>
                    <a:pt x="372237" y="16129"/>
                    <a:pt x="370713" y="13843"/>
                    <a:pt x="368808" y="11938"/>
                  </a:cubicBezTo>
                  <a:lnTo>
                    <a:pt x="370840" y="9906"/>
                  </a:lnTo>
                  <a:lnTo>
                    <a:pt x="368808" y="11938"/>
                  </a:lnTo>
                  <a:cubicBezTo>
                    <a:pt x="366903" y="10033"/>
                    <a:pt x="364744" y="8509"/>
                    <a:pt x="362204" y="7493"/>
                  </a:cubicBezTo>
                  <a:lnTo>
                    <a:pt x="363347" y="4826"/>
                  </a:lnTo>
                  <a:lnTo>
                    <a:pt x="362204" y="7493"/>
                  </a:lnTo>
                  <a:cubicBezTo>
                    <a:pt x="359664" y="6477"/>
                    <a:pt x="357124" y="5969"/>
                    <a:pt x="354457" y="5969"/>
                  </a:cubicBezTo>
                  <a:lnTo>
                    <a:pt x="26289" y="5969"/>
                  </a:lnTo>
                  <a:close/>
                </a:path>
              </a:pathLst>
            </a:custGeom>
            <a:solidFill>
              <a:srgbClr val="4A2C85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8981567" y="3611372"/>
              <a:ext cx="2024126" cy="10668"/>
            </a:xfrm>
            <a:custGeom>
              <a:avLst/>
              <a:gdLst/>
              <a:ahLst/>
              <a:cxnLst/>
              <a:rect l="l" t="t" r="r" b="b"/>
              <a:pathLst>
                <a:path w="2024126" h="10668">
                  <a:moveTo>
                    <a:pt x="0" y="0"/>
                  </a:moveTo>
                  <a:lnTo>
                    <a:pt x="0" y="10668"/>
                  </a:lnTo>
                  <a:lnTo>
                    <a:pt x="2024126" y="10668"/>
                  </a:lnTo>
                  <a:lnTo>
                    <a:pt x="20241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1C9D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8978519" y="3608451"/>
              <a:ext cx="2030095" cy="16510"/>
            </a:xfrm>
            <a:custGeom>
              <a:avLst/>
              <a:gdLst/>
              <a:ahLst/>
              <a:cxnLst/>
              <a:rect l="l" t="t" r="r" b="b"/>
              <a:pathLst>
                <a:path w="2030095" h="16510">
                  <a:moveTo>
                    <a:pt x="5969" y="2921"/>
                  </a:moveTo>
                  <a:lnTo>
                    <a:pt x="5969" y="13589"/>
                  </a:lnTo>
                  <a:lnTo>
                    <a:pt x="3048" y="13589"/>
                  </a:lnTo>
                  <a:lnTo>
                    <a:pt x="3048" y="10668"/>
                  </a:lnTo>
                  <a:lnTo>
                    <a:pt x="2027174" y="10668"/>
                  </a:lnTo>
                  <a:lnTo>
                    <a:pt x="2027174" y="13589"/>
                  </a:lnTo>
                  <a:lnTo>
                    <a:pt x="2024254" y="13589"/>
                  </a:lnTo>
                  <a:lnTo>
                    <a:pt x="2024254" y="2921"/>
                  </a:lnTo>
                  <a:lnTo>
                    <a:pt x="2027174" y="2921"/>
                  </a:lnTo>
                  <a:lnTo>
                    <a:pt x="2027174" y="5842"/>
                  </a:lnTo>
                  <a:lnTo>
                    <a:pt x="3048" y="5842"/>
                  </a:lnTo>
                  <a:lnTo>
                    <a:pt x="3048" y="2921"/>
                  </a:lnTo>
                  <a:lnTo>
                    <a:pt x="5969" y="2921"/>
                  </a:lnTo>
                  <a:moveTo>
                    <a:pt x="0" y="2921"/>
                  </a:moveTo>
                  <a:cubicBezTo>
                    <a:pt x="0" y="1270"/>
                    <a:pt x="1270" y="0"/>
                    <a:pt x="2921" y="0"/>
                  </a:cubicBezTo>
                  <a:lnTo>
                    <a:pt x="2027174" y="0"/>
                  </a:lnTo>
                  <a:cubicBezTo>
                    <a:pt x="2028825" y="0"/>
                    <a:pt x="2030095" y="1270"/>
                    <a:pt x="2030095" y="2921"/>
                  </a:cubicBezTo>
                  <a:lnTo>
                    <a:pt x="2030095" y="13589"/>
                  </a:lnTo>
                  <a:cubicBezTo>
                    <a:pt x="2030095" y="15240"/>
                    <a:pt x="2028825" y="16510"/>
                    <a:pt x="2027174" y="16510"/>
                  </a:cubicBezTo>
                  <a:lnTo>
                    <a:pt x="3048" y="16510"/>
                  </a:lnTo>
                  <a:cubicBezTo>
                    <a:pt x="1397" y="16510"/>
                    <a:pt x="128" y="15240"/>
                    <a:pt x="128" y="13589"/>
                  </a:cubicBezTo>
                  <a:lnTo>
                    <a:pt x="128" y="2921"/>
                  </a:lnTo>
                  <a:close/>
                </a:path>
              </a:pathLst>
            </a:custGeom>
            <a:solidFill>
              <a:srgbClr val="4A2C85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3124248" y="2509104"/>
            <a:ext cx="5900938" cy="2998660"/>
            <a:chOff x="0" y="0"/>
            <a:chExt cx="7867917" cy="399821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867904" cy="3998214"/>
            </a:xfrm>
            <a:custGeom>
              <a:avLst/>
              <a:gdLst/>
              <a:ahLst/>
              <a:cxnLst/>
              <a:rect l="l" t="t" r="r" b="b"/>
              <a:pathLst>
                <a:path w="7867904" h="3998214">
                  <a:moveTo>
                    <a:pt x="2123948" y="0"/>
                  </a:moveTo>
                  <a:cubicBezTo>
                    <a:pt x="950849" y="0"/>
                    <a:pt x="0" y="894969"/>
                    <a:pt x="0" y="1999107"/>
                  </a:cubicBezTo>
                  <a:cubicBezTo>
                    <a:pt x="0" y="3103245"/>
                    <a:pt x="950849" y="3998214"/>
                    <a:pt x="2123948" y="3998214"/>
                  </a:cubicBezTo>
                  <a:lnTo>
                    <a:pt x="5743956" y="3998214"/>
                  </a:lnTo>
                  <a:cubicBezTo>
                    <a:pt x="6916547" y="3998214"/>
                    <a:pt x="7867142" y="3103880"/>
                    <a:pt x="7867904" y="2000377"/>
                  </a:cubicBezTo>
                  <a:lnTo>
                    <a:pt x="7867904" y="1998853"/>
                  </a:lnTo>
                  <a:cubicBezTo>
                    <a:pt x="7867777" y="894842"/>
                    <a:pt x="6916928" y="0"/>
                    <a:pt x="5743956" y="0"/>
                  </a:cubicBezTo>
                  <a:close/>
                </a:path>
              </a:pathLst>
            </a:custGeom>
            <a:blipFill>
              <a:blip r:embed="rId3"/>
              <a:stretch>
                <a:fillRect t="-16" b="-16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718242" y="530028"/>
            <a:ext cx="657558" cy="105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lang="en-US" sz="59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DATABASE DESIGN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1540" y="688934"/>
            <a:ext cx="3397653" cy="33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Entity Relationship Diagram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4410" y="2728732"/>
            <a:ext cx="1694336" cy="663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897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Users</a:t>
            </a:r>
          </a:p>
          <a:p>
            <a:pPr algn="l">
              <a:lnSpc>
                <a:spcPts val="1432"/>
              </a:lnSpc>
            </a:pPr>
            <a:r>
              <a:rPr lang="en-US" sz="151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Customers with FK to CITIES (verified)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4410" y="4559998"/>
            <a:ext cx="1009679" cy="32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97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Vehicles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30001" y="4827489"/>
            <a:ext cx="48101" cy="282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1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03426" y="4645723"/>
            <a:ext cx="1513237" cy="845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897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Cities</a:t>
            </a:r>
            <a:r>
              <a:rPr lang="en-US" sz="1897">
                <a:solidFill>
                  <a:srgbClr val="DCD7E5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</a:p>
          <a:p>
            <a:pPr algn="l">
              <a:lnSpc>
                <a:spcPts val="1432"/>
              </a:lnSpc>
            </a:pPr>
            <a:r>
              <a:rPr lang="en-US" sz="151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Citymaster table referenced by USERS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03426" y="2728732"/>
            <a:ext cx="1800158" cy="663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897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Drivers</a:t>
            </a:r>
            <a:r>
              <a:rPr lang="en-US" sz="1897">
                <a:solidFill>
                  <a:srgbClr val="DCD7E5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</a:p>
          <a:p>
            <a:pPr algn="l">
              <a:lnSpc>
                <a:spcPts val="1432"/>
              </a:lnSpc>
            </a:pPr>
            <a:r>
              <a:rPr lang="en-US" sz="151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Driverprofiles linked to RIDES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10" y="4827489"/>
            <a:ext cx="1381811" cy="282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51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Vehiclerecords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4410" y="5076225"/>
            <a:ext cx="1407585" cy="397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151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associated with drivers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3503" y="-63503"/>
            <a:ext cx="12318997" cy="6984997"/>
          </a:xfrm>
          <a:custGeom>
            <a:avLst/>
            <a:gdLst/>
            <a:ahLst/>
            <a:cxnLst/>
            <a:rect l="l" t="t" r="r" b="b"/>
            <a:pathLst>
              <a:path w="12318997" h="6984997">
                <a:moveTo>
                  <a:pt x="0" y="0"/>
                </a:moveTo>
                <a:lnTo>
                  <a:pt x="12318997" y="0"/>
                </a:lnTo>
                <a:lnTo>
                  <a:pt x="12318997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2448" y="534486"/>
            <a:ext cx="992276" cy="18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3"/>
              </a:lnSpc>
            </a:pPr>
            <a:r>
              <a:rPr lang="en-US" sz="1059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METHODOLOGY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1540" y="530904"/>
            <a:ext cx="2792654" cy="131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83"/>
              </a:lnSpc>
            </a:pPr>
            <a:r>
              <a:rPr lang="en-US" sz="3313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Data Flow</a:t>
            </a:r>
          </a:p>
          <a:p>
            <a:pPr algn="l">
              <a:lnSpc>
                <a:spcPts val="3313"/>
              </a:lnSpc>
            </a:pPr>
            <a:r>
              <a:rPr lang="en-US" sz="1325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Raw data </a:t>
            </a:r>
            <a:r>
              <a:rPr lang="en-US" sz="1325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→</a:t>
            </a:r>
            <a:r>
              <a:rPr lang="en-US" sz="1325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 Structured database </a:t>
            </a:r>
            <a:r>
              <a:rPr lang="en-US" sz="1325">
                <a:solidFill>
                  <a:srgbClr val="DCD7E5"/>
                </a:solidFill>
                <a:latin typeface="Heebo"/>
                <a:ea typeface="Heebo"/>
                <a:cs typeface="Heebo"/>
                <a:sym typeface="Heebo"/>
              </a:rPr>
              <a:t>→</a:t>
            </a:r>
            <a:r>
              <a:rPr lang="en-US" sz="1325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99406" y="1577921"/>
            <a:ext cx="1035044" cy="241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325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SQL analysis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82306" y="1577921"/>
            <a:ext cx="1603219" cy="241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325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 Data-driven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4123" y="1556814"/>
            <a:ext cx="171669" cy="23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325">
                <a:solidFill>
                  <a:srgbClr val="DCD7E5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31425" y="3660391"/>
            <a:ext cx="1144267" cy="212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264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Raw CSV Files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9888" y="3539023"/>
            <a:ext cx="1243632" cy="212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264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Relational SQL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15914" y="3746059"/>
            <a:ext cx="780374" cy="212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264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Modeling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31408" y="3631835"/>
            <a:ext cx="1402490" cy="212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264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Import to MySQL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3503" y="-63503"/>
            <a:ext cx="12318997" cy="6984997"/>
            <a:chOff x="0" y="0"/>
            <a:chExt cx="12319000" cy="6985000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D0A2C">
                <a:alpha val="89804"/>
              </a:srgbClr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720725" y="587375"/>
              <a:ext cx="1304925" cy="238125"/>
            </a:xfrm>
            <a:custGeom>
              <a:avLst/>
              <a:gdLst/>
              <a:ahLst/>
              <a:cxnLst/>
              <a:rect l="l" t="t" r="r" b="b"/>
              <a:pathLst>
                <a:path w="1304925" h="238125">
                  <a:moveTo>
                    <a:pt x="0" y="192659"/>
                  </a:moveTo>
                  <a:lnTo>
                    <a:pt x="0" y="45466"/>
                  </a:lnTo>
                  <a:cubicBezTo>
                    <a:pt x="0" y="39497"/>
                    <a:pt x="1143" y="33655"/>
                    <a:pt x="3429" y="28067"/>
                  </a:cubicBezTo>
                  <a:cubicBezTo>
                    <a:pt x="5715" y="22479"/>
                    <a:pt x="9017" y="17526"/>
                    <a:pt x="13335" y="13335"/>
                  </a:cubicBezTo>
                  <a:cubicBezTo>
                    <a:pt x="17653" y="9144"/>
                    <a:pt x="22479" y="5842"/>
                    <a:pt x="28067" y="3429"/>
                  </a:cubicBezTo>
                  <a:cubicBezTo>
                    <a:pt x="33655" y="1016"/>
                    <a:pt x="39497" y="0"/>
                    <a:pt x="45466" y="0"/>
                  </a:cubicBezTo>
                  <a:lnTo>
                    <a:pt x="1259459" y="0"/>
                  </a:lnTo>
                  <a:cubicBezTo>
                    <a:pt x="1265428" y="0"/>
                    <a:pt x="1271270" y="1143"/>
                    <a:pt x="1276858" y="3429"/>
                  </a:cubicBezTo>
                  <a:cubicBezTo>
                    <a:pt x="1282446" y="5715"/>
                    <a:pt x="1287399" y="9017"/>
                    <a:pt x="1291590" y="13335"/>
                  </a:cubicBezTo>
                  <a:cubicBezTo>
                    <a:pt x="1295781" y="17653"/>
                    <a:pt x="1299083" y="22479"/>
                    <a:pt x="1301496" y="28067"/>
                  </a:cubicBezTo>
                  <a:cubicBezTo>
                    <a:pt x="1303909" y="33655"/>
                    <a:pt x="1304925" y="39497"/>
                    <a:pt x="1304925" y="45466"/>
                  </a:cubicBezTo>
                  <a:lnTo>
                    <a:pt x="1304925" y="192659"/>
                  </a:lnTo>
                  <a:cubicBezTo>
                    <a:pt x="1304925" y="198628"/>
                    <a:pt x="1303782" y="204470"/>
                    <a:pt x="1301496" y="210058"/>
                  </a:cubicBezTo>
                  <a:cubicBezTo>
                    <a:pt x="1299210" y="215646"/>
                    <a:pt x="1295908" y="220599"/>
                    <a:pt x="1291590" y="224790"/>
                  </a:cubicBezTo>
                  <a:cubicBezTo>
                    <a:pt x="1287272" y="228981"/>
                    <a:pt x="1282446" y="232283"/>
                    <a:pt x="1276858" y="234696"/>
                  </a:cubicBezTo>
                  <a:cubicBezTo>
                    <a:pt x="1271270" y="237109"/>
                    <a:pt x="1265428" y="238125"/>
                    <a:pt x="1259459" y="238125"/>
                  </a:cubicBezTo>
                  <a:lnTo>
                    <a:pt x="45466" y="238125"/>
                  </a:lnTo>
                  <a:cubicBezTo>
                    <a:pt x="39497" y="238125"/>
                    <a:pt x="33655" y="236982"/>
                    <a:pt x="28067" y="234696"/>
                  </a:cubicBezTo>
                  <a:cubicBezTo>
                    <a:pt x="22479" y="232410"/>
                    <a:pt x="17526" y="229108"/>
                    <a:pt x="13335" y="224790"/>
                  </a:cubicBezTo>
                  <a:cubicBezTo>
                    <a:pt x="9144" y="220472"/>
                    <a:pt x="5842" y="215646"/>
                    <a:pt x="3429" y="210058"/>
                  </a:cubicBezTo>
                  <a:cubicBezTo>
                    <a:pt x="1016" y="204470"/>
                    <a:pt x="0" y="198628"/>
                    <a:pt x="0" y="192659"/>
                  </a:cubicBezTo>
                  <a:close/>
                </a:path>
              </a:pathLst>
            </a:custGeom>
            <a:solidFill>
              <a:srgbClr val="1E0C41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2466975" y="1695450"/>
            <a:ext cx="3314700" cy="4057650"/>
            <a:chOff x="0" y="0"/>
            <a:chExt cx="4419600" cy="5410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19473" cy="5410200"/>
            </a:xfrm>
            <a:custGeom>
              <a:avLst/>
              <a:gdLst/>
              <a:ahLst/>
              <a:cxnLst/>
              <a:rect l="l" t="t" r="r" b="b"/>
              <a:pathLst>
                <a:path w="4419473" h="5410200">
                  <a:moveTo>
                    <a:pt x="75819" y="0"/>
                  </a:moveTo>
                  <a:cubicBezTo>
                    <a:pt x="65786" y="0"/>
                    <a:pt x="56134" y="1905"/>
                    <a:pt x="46736" y="5715"/>
                  </a:cubicBezTo>
                  <a:cubicBezTo>
                    <a:pt x="37338" y="9525"/>
                    <a:pt x="29210" y="14986"/>
                    <a:pt x="22098" y="22098"/>
                  </a:cubicBezTo>
                  <a:cubicBezTo>
                    <a:pt x="14986" y="29210"/>
                    <a:pt x="9652" y="37465"/>
                    <a:pt x="5715" y="46736"/>
                  </a:cubicBezTo>
                  <a:cubicBezTo>
                    <a:pt x="1778" y="56007"/>
                    <a:pt x="0" y="65659"/>
                    <a:pt x="0" y="75692"/>
                  </a:cubicBezTo>
                  <a:lnTo>
                    <a:pt x="0" y="5334508"/>
                  </a:lnTo>
                  <a:cubicBezTo>
                    <a:pt x="0" y="5344541"/>
                    <a:pt x="1905" y="5354193"/>
                    <a:pt x="5715" y="5363464"/>
                  </a:cubicBezTo>
                  <a:cubicBezTo>
                    <a:pt x="9525" y="5372735"/>
                    <a:pt x="14986" y="5380990"/>
                    <a:pt x="22098" y="5388102"/>
                  </a:cubicBezTo>
                  <a:cubicBezTo>
                    <a:pt x="29210" y="5395214"/>
                    <a:pt x="37465" y="5400675"/>
                    <a:pt x="46736" y="5404485"/>
                  </a:cubicBezTo>
                  <a:cubicBezTo>
                    <a:pt x="56007" y="5408295"/>
                    <a:pt x="65659" y="5410200"/>
                    <a:pt x="75692" y="5410200"/>
                  </a:cubicBezTo>
                  <a:lnTo>
                    <a:pt x="4343781" y="5410200"/>
                  </a:lnTo>
                  <a:cubicBezTo>
                    <a:pt x="4353814" y="5410200"/>
                    <a:pt x="4363466" y="5408295"/>
                    <a:pt x="4372737" y="5404485"/>
                  </a:cubicBezTo>
                  <a:cubicBezTo>
                    <a:pt x="4382008" y="5400675"/>
                    <a:pt x="4390263" y="5395214"/>
                    <a:pt x="4397375" y="5388102"/>
                  </a:cubicBezTo>
                  <a:cubicBezTo>
                    <a:pt x="4404487" y="5380990"/>
                    <a:pt x="4409948" y="5372735"/>
                    <a:pt x="4413758" y="5363464"/>
                  </a:cubicBezTo>
                  <a:cubicBezTo>
                    <a:pt x="4417568" y="5354193"/>
                    <a:pt x="4419473" y="5344541"/>
                    <a:pt x="4419473" y="5334508"/>
                  </a:cubicBezTo>
                  <a:lnTo>
                    <a:pt x="4419473" y="75819"/>
                  </a:lnTo>
                  <a:cubicBezTo>
                    <a:pt x="4419473" y="65786"/>
                    <a:pt x="4417568" y="56134"/>
                    <a:pt x="4413758" y="46863"/>
                  </a:cubicBezTo>
                  <a:cubicBezTo>
                    <a:pt x="4409948" y="37592"/>
                    <a:pt x="4404487" y="29337"/>
                    <a:pt x="4397375" y="22225"/>
                  </a:cubicBezTo>
                  <a:cubicBezTo>
                    <a:pt x="4390263" y="15113"/>
                    <a:pt x="4382008" y="9652"/>
                    <a:pt x="4372737" y="5842"/>
                  </a:cubicBezTo>
                  <a:cubicBezTo>
                    <a:pt x="4363466" y="2032"/>
                    <a:pt x="4353814" y="0"/>
                    <a:pt x="4343781" y="0"/>
                  </a:cubicBezTo>
                  <a:close/>
                </a:path>
              </a:pathLst>
            </a:custGeom>
            <a:blipFill>
              <a:blip r:embed="rId3"/>
              <a:stretch>
                <a:fillRect r="-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927972" y="3498847"/>
            <a:ext cx="3679822" cy="1908172"/>
            <a:chOff x="0" y="0"/>
            <a:chExt cx="3679825" cy="1908175"/>
          </a:xfrm>
        </p:grpSpPr>
        <p:sp>
          <p:nvSpPr>
            <p:cNvPr id="10" name="Freeform 10"/>
            <p:cNvSpPr/>
            <p:nvPr/>
          </p:nvSpPr>
          <p:spPr>
            <a:xfrm>
              <a:off x="63500" y="63500"/>
              <a:ext cx="3552825" cy="1781048"/>
            </a:xfrm>
            <a:custGeom>
              <a:avLst/>
              <a:gdLst/>
              <a:ahLst/>
              <a:cxnLst/>
              <a:rect l="l" t="t" r="r" b="b"/>
              <a:pathLst>
                <a:path w="3552825" h="1781048">
                  <a:moveTo>
                    <a:pt x="0" y="1724279"/>
                  </a:moveTo>
                  <a:lnTo>
                    <a:pt x="0" y="56896"/>
                  </a:lnTo>
                  <a:cubicBezTo>
                    <a:pt x="0" y="53213"/>
                    <a:pt x="381" y="49403"/>
                    <a:pt x="1143" y="45847"/>
                  </a:cubicBezTo>
                  <a:cubicBezTo>
                    <a:pt x="1905" y="42291"/>
                    <a:pt x="2921" y="38608"/>
                    <a:pt x="4318" y="35179"/>
                  </a:cubicBezTo>
                  <a:cubicBezTo>
                    <a:pt x="5715" y="31750"/>
                    <a:pt x="7493" y="28448"/>
                    <a:pt x="9525" y="25400"/>
                  </a:cubicBezTo>
                  <a:cubicBezTo>
                    <a:pt x="11557" y="22352"/>
                    <a:pt x="13970" y="19431"/>
                    <a:pt x="16637" y="16764"/>
                  </a:cubicBezTo>
                  <a:cubicBezTo>
                    <a:pt x="19304" y="14097"/>
                    <a:pt x="22098" y="11811"/>
                    <a:pt x="25273" y="9652"/>
                  </a:cubicBezTo>
                  <a:cubicBezTo>
                    <a:pt x="28448" y="7493"/>
                    <a:pt x="31623" y="5842"/>
                    <a:pt x="35052" y="4445"/>
                  </a:cubicBezTo>
                  <a:cubicBezTo>
                    <a:pt x="38481" y="3048"/>
                    <a:pt x="42037" y="1905"/>
                    <a:pt x="45720" y="1270"/>
                  </a:cubicBezTo>
                  <a:cubicBezTo>
                    <a:pt x="49403" y="635"/>
                    <a:pt x="53086" y="0"/>
                    <a:pt x="56896" y="0"/>
                  </a:cubicBezTo>
                  <a:lnTo>
                    <a:pt x="3496056" y="0"/>
                  </a:lnTo>
                  <a:cubicBezTo>
                    <a:pt x="3499739" y="0"/>
                    <a:pt x="3503422" y="381"/>
                    <a:pt x="3507105" y="1143"/>
                  </a:cubicBezTo>
                  <a:cubicBezTo>
                    <a:pt x="3510788" y="1905"/>
                    <a:pt x="3514344" y="2921"/>
                    <a:pt x="3517773" y="4318"/>
                  </a:cubicBezTo>
                  <a:cubicBezTo>
                    <a:pt x="3521202" y="5715"/>
                    <a:pt x="3524504" y="7493"/>
                    <a:pt x="3527552" y="9525"/>
                  </a:cubicBezTo>
                  <a:cubicBezTo>
                    <a:pt x="3530600" y="11557"/>
                    <a:pt x="3533521" y="13970"/>
                    <a:pt x="3536188" y="16637"/>
                  </a:cubicBezTo>
                  <a:cubicBezTo>
                    <a:pt x="3538855" y="19304"/>
                    <a:pt x="3541141" y="22098"/>
                    <a:pt x="3543300" y="25273"/>
                  </a:cubicBezTo>
                  <a:cubicBezTo>
                    <a:pt x="3545459" y="28448"/>
                    <a:pt x="3547110" y="31623"/>
                    <a:pt x="3548507" y="35052"/>
                  </a:cubicBezTo>
                  <a:cubicBezTo>
                    <a:pt x="3549904" y="38481"/>
                    <a:pt x="3551047" y="42037"/>
                    <a:pt x="3551682" y="45720"/>
                  </a:cubicBezTo>
                  <a:cubicBezTo>
                    <a:pt x="3552317" y="49403"/>
                    <a:pt x="3552825" y="53086"/>
                    <a:pt x="3552825" y="56769"/>
                  </a:cubicBezTo>
                  <a:lnTo>
                    <a:pt x="3552825" y="1724279"/>
                  </a:lnTo>
                  <a:cubicBezTo>
                    <a:pt x="3552825" y="1727962"/>
                    <a:pt x="3552444" y="1731772"/>
                    <a:pt x="3551682" y="1735328"/>
                  </a:cubicBezTo>
                  <a:cubicBezTo>
                    <a:pt x="3550920" y="1738884"/>
                    <a:pt x="3549904" y="1742567"/>
                    <a:pt x="3548507" y="1745996"/>
                  </a:cubicBezTo>
                  <a:cubicBezTo>
                    <a:pt x="3547110" y="1749425"/>
                    <a:pt x="3545332" y="1752727"/>
                    <a:pt x="3543300" y="1755775"/>
                  </a:cubicBezTo>
                  <a:cubicBezTo>
                    <a:pt x="3541268" y="1758823"/>
                    <a:pt x="3538855" y="1761744"/>
                    <a:pt x="3536188" y="1764411"/>
                  </a:cubicBezTo>
                  <a:cubicBezTo>
                    <a:pt x="3533521" y="1767078"/>
                    <a:pt x="3530727" y="1769364"/>
                    <a:pt x="3527552" y="1771523"/>
                  </a:cubicBezTo>
                  <a:cubicBezTo>
                    <a:pt x="3524377" y="1773682"/>
                    <a:pt x="3521202" y="1775333"/>
                    <a:pt x="3517773" y="1776730"/>
                  </a:cubicBezTo>
                  <a:cubicBezTo>
                    <a:pt x="3514344" y="1778127"/>
                    <a:pt x="3510788" y="1779270"/>
                    <a:pt x="3507105" y="1779905"/>
                  </a:cubicBezTo>
                  <a:cubicBezTo>
                    <a:pt x="3503422" y="1780540"/>
                    <a:pt x="3499739" y="1781048"/>
                    <a:pt x="3496056" y="1781048"/>
                  </a:cubicBezTo>
                  <a:lnTo>
                    <a:pt x="56896" y="1781048"/>
                  </a:lnTo>
                  <a:cubicBezTo>
                    <a:pt x="53213" y="1781048"/>
                    <a:pt x="49403" y="1780667"/>
                    <a:pt x="45847" y="1779905"/>
                  </a:cubicBezTo>
                  <a:cubicBezTo>
                    <a:pt x="42291" y="1779143"/>
                    <a:pt x="38608" y="1778127"/>
                    <a:pt x="35179" y="1776730"/>
                  </a:cubicBezTo>
                  <a:cubicBezTo>
                    <a:pt x="31750" y="1775333"/>
                    <a:pt x="28448" y="1773555"/>
                    <a:pt x="25400" y="1771523"/>
                  </a:cubicBezTo>
                  <a:cubicBezTo>
                    <a:pt x="22352" y="1769491"/>
                    <a:pt x="19431" y="1767078"/>
                    <a:pt x="16764" y="1764411"/>
                  </a:cubicBezTo>
                  <a:cubicBezTo>
                    <a:pt x="14097" y="1761744"/>
                    <a:pt x="11811" y="1758950"/>
                    <a:pt x="9652" y="1755775"/>
                  </a:cubicBezTo>
                  <a:cubicBezTo>
                    <a:pt x="7493" y="1752600"/>
                    <a:pt x="5842" y="1749425"/>
                    <a:pt x="4445" y="1745996"/>
                  </a:cubicBezTo>
                  <a:cubicBezTo>
                    <a:pt x="3048" y="1742567"/>
                    <a:pt x="1905" y="1739011"/>
                    <a:pt x="1270" y="1735328"/>
                  </a:cubicBezTo>
                  <a:cubicBezTo>
                    <a:pt x="635" y="1731645"/>
                    <a:pt x="127" y="1727962"/>
                    <a:pt x="127" y="1724279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55905" y="283210"/>
              <a:ext cx="142113" cy="142113"/>
            </a:xfrm>
            <a:custGeom>
              <a:avLst/>
              <a:gdLst/>
              <a:ahLst/>
              <a:cxnLst/>
              <a:rect l="l" t="t" r="r" b="b"/>
              <a:pathLst>
                <a:path w="142113" h="142113">
                  <a:moveTo>
                    <a:pt x="20320" y="15240"/>
                  </a:moveTo>
                  <a:cubicBezTo>
                    <a:pt x="17526" y="15240"/>
                    <a:pt x="15240" y="17526"/>
                    <a:pt x="15240" y="20320"/>
                  </a:cubicBezTo>
                  <a:lnTo>
                    <a:pt x="15240" y="121793"/>
                  </a:lnTo>
                  <a:cubicBezTo>
                    <a:pt x="15240" y="124587"/>
                    <a:pt x="17526" y="126873"/>
                    <a:pt x="20320" y="126873"/>
                  </a:cubicBezTo>
                  <a:lnTo>
                    <a:pt x="91313" y="126873"/>
                  </a:lnTo>
                  <a:lnTo>
                    <a:pt x="91313" y="101473"/>
                  </a:lnTo>
                  <a:cubicBezTo>
                    <a:pt x="91313" y="95885"/>
                    <a:pt x="95885" y="91313"/>
                    <a:pt x="101473" y="91313"/>
                  </a:cubicBezTo>
                  <a:lnTo>
                    <a:pt x="126873" y="91313"/>
                  </a:lnTo>
                  <a:lnTo>
                    <a:pt x="126873" y="20320"/>
                  </a:lnTo>
                  <a:cubicBezTo>
                    <a:pt x="126873" y="17526"/>
                    <a:pt x="124587" y="15240"/>
                    <a:pt x="121793" y="15240"/>
                  </a:cubicBezTo>
                  <a:lnTo>
                    <a:pt x="20320" y="15240"/>
                  </a:lnTo>
                  <a:close/>
                  <a:moveTo>
                    <a:pt x="91313" y="142113"/>
                  </a:moveTo>
                  <a:lnTo>
                    <a:pt x="20320" y="142113"/>
                  </a:lnTo>
                  <a:cubicBezTo>
                    <a:pt x="9144" y="142113"/>
                    <a:pt x="0" y="132969"/>
                    <a:pt x="0" y="121793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lnTo>
                    <a:pt x="121793" y="0"/>
                  </a:lnTo>
                  <a:cubicBezTo>
                    <a:pt x="132969" y="0"/>
                    <a:pt x="142113" y="9144"/>
                    <a:pt x="142113" y="20320"/>
                  </a:cubicBezTo>
                  <a:lnTo>
                    <a:pt x="142113" y="91313"/>
                  </a:lnTo>
                  <a:lnTo>
                    <a:pt x="142113" y="93091"/>
                  </a:lnTo>
                  <a:cubicBezTo>
                    <a:pt x="142113" y="98425"/>
                    <a:pt x="139954" y="103632"/>
                    <a:pt x="136144" y="107442"/>
                  </a:cubicBezTo>
                  <a:lnTo>
                    <a:pt x="107442" y="136144"/>
                  </a:lnTo>
                  <a:cubicBezTo>
                    <a:pt x="103632" y="139954"/>
                    <a:pt x="98425" y="142113"/>
                    <a:pt x="93091" y="142113"/>
                  </a:cubicBezTo>
                  <a:lnTo>
                    <a:pt x="91313" y="142113"/>
                  </a:lnTo>
                  <a:close/>
                </a:path>
              </a:pathLst>
            </a:custGeom>
            <a:solidFill>
              <a:srgbClr val="A17DE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758876" y="520351"/>
            <a:ext cx="1130951" cy="18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1023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DATABASE DESIGN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1540" y="846820"/>
            <a:ext cx="8417490" cy="54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MySQL Workbench Reverse Engineering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21008" y="3705587"/>
            <a:ext cx="2869216" cy="1434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7"/>
              </a:lnSpc>
            </a:pPr>
            <a:r>
              <a:rPr lang="en-US" sz="1278" b="1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Key Distinction:</a:t>
            </a:r>
            <a:r>
              <a:rPr lang="en-US" sz="1278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The </a:t>
            </a:r>
            <a:r>
              <a:rPr lang="en-US" sz="1278" b="1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ER Diagram</a:t>
            </a:r>
            <a:r>
              <a:rPr lang="en-US" sz="1278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explains logical relationships. The </a:t>
            </a:r>
            <a:r>
              <a:rPr lang="en-US" sz="1278" b="1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Data Flow</a:t>
            </a:r>
            <a:r>
              <a:rPr lang="en-US" sz="1278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shows how data moves through the project. The </a:t>
            </a:r>
            <a:r>
              <a:rPr lang="en-US" sz="1278" b="1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Reverse Engineering / EER Diagram</a:t>
            </a:r>
            <a:r>
              <a:rPr lang="en-US" sz="1278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reflects the actual implemented MySQL schema.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3266" y="2410187"/>
            <a:ext cx="3655600" cy="958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27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Reverse engineering was used to visualize the existing MySQL database structure — including all tables, primary keys, foreign keys, and inter-table relationships.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3503" y="-63503"/>
            <a:ext cx="12318997" cy="6984997"/>
          </a:xfrm>
          <a:custGeom>
            <a:avLst/>
            <a:gdLst/>
            <a:ahLst/>
            <a:cxnLst/>
            <a:rect l="l" t="t" r="r" b="b"/>
            <a:pathLst>
              <a:path w="12318997" h="6984997">
                <a:moveTo>
                  <a:pt x="0" y="0"/>
                </a:moveTo>
                <a:lnTo>
                  <a:pt x="12318997" y="0"/>
                </a:lnTo>
                <a:lnTo>
                  <a:pt x="12318997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44293" y="5863876"/>
            <a:ext cx="1444733" cy="193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1023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Example:</a:t>
            </a:r>
            <a:r>
              <a:rPr lang="en-US" sz="1023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To understand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03512" y="5863876"/>
            <a:ext cx="7240638" cy="18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1023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revenue, we would first define the question ("Which payment modes generate the most revenue?"), then write a SQL query to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33698" y="6073426"/>
            <a:ext cx="5158597" cy="18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1023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, analyze the resulting totals, and finally derive insights on payment method performance.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84796" y="5863876"/>
            <a:ext cx="525008" cy="18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1023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revenue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8876" y="520351"/>
            <a:ext cx="957205" cy="18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1023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METHODOLOGY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1540" y="846820"/>
            <a:ext cx="5096218" cy="54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SQL Analysis Framework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6038" y="1524362"/>
            <a:ext cx="40519" cy="22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0"/>
              </a:lnSpc>
            </a:pPr>
            <a:r>
              <a:rPr lang="en-US" sz="127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3912" y="3276962"/>
            <a:ext cx="2849975" cy="47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7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Clearly define the business question or problem.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3912" y="5048612"/>
            <a:ext cx="3008757" cy="47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7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Perform data analysis, comparisons, and metric calculations.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46832" y="3276962"/>
            <a:ext cx="2931795" cy="47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7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Construct targeted SQL queries for data retrieval.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46832" y="5048612"/>
            <a:ext cx="3382347" cy="47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7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Translate findings into actionable insights and recommendations.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1540" y="1524362"/>
            <a:ext cx="10298268" cy="22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0"/>
              </a:lnSpc>
            </a:pPr>
            <a:r>
              <a:rPr lang="en-US" sz="127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Ouranalyticalapproachfollowsasystematicfive-stepframework,ensuringrobust data exploration and the derivation of meaningful business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1540" y="1762487"/>
            <a:ext cx="1927993" cy="22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0"/>
              </a:lnSpc>
            </a:pPr>
            <a:r>
              <a:rPr lang="en-US" sz="127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intelligence from raw data.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69761" y="3276962"/>
            <a:ext cx="3151308" cy="47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7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Execute queries and retrieve the structured data output.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3912" y="2990431"/>
            <a:ext cx="947947" cy="27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Question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3912" y="4762081"/>
            <a:ext cx="2672744" cy="27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Comparison &amp; Calculation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46832" y="2990431"/>
            <a:ext cx="1108491" cy="27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SQL Query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46832" y="4762081"/>
            <a:ext cx="2189578" cy="27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Insight &amp; Judgement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69761" y="2990431"/>
            <a:ext cx="652443" cy="27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Result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60689" y="5857513"/>
            <a:ext cx="961663" cy="18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1023">
                <a:solidFill>
                  <a:srgbClr val="DCD7E5"/>
                </a:solidFill>
                <a:latin typeface="Open Sans"/>
                <a:ea typeface="Open Sans"/>
                <a:cs typeface="Open Sans"/>
                <a:sym typeface="Open Sans"/>
              </a:rPr>
              <a:t>payment_mode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00823" y="6067063"/>
            <a:ext cx="1155573" cy="18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1023">
                <a:solidFill>
                  <a:srgbClr val="DCD7E5"/>
                </a:solidFill>
                <a:latin typeface="Open Sans"/>
                <a:ea typeface="Open Sans"/>
                <a:cs typeface="Open Sans"/>
                <a:sym typeface="Open Sans"/>
              </a:rPr>
              <a:t>BY</a:t>
            </a:r>
            <a:r>
              <a:rPr lang="en-US" sz="102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23">
                <a:solidFill>
                  <a:srgbClr val="DCD7E5"/>
                </a:solidFill>
                <a:latin typeface="Open Sans"/>
                <a:ea typeface="Open Sans"/>
                <a:cs typeface="Open Sans"/>
                <a:sym typeface="Open Sans"/>
              </a:rPr>
              <a:t>payment_mode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02170" y="5857513"/>
            <a:ext cx="288274" cy="18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1023">
                <a:solidFill>
                  <a:srgbClr val="DCD7E5"/>
                </a:solidFill>
                <a:latin typeface="Open Sans"/>
                <a:ea typeface="Open Sans"/>
                <a:cs typeface="Open Sans"/>
                <a:sym typeface="Open Sans"/>
              </a:rPr>
              <a:t>SUM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99594" y="5857513"/>
            <a:ext cx="491509" cy="18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"/>
              </a:lnSpc>
            </a:pPr>
            <a:r>
              <a:rPr lang="en-US" sz="1023">
                <a:solidFill>
                  <a:srgbClr val="DCD7E5"/>
                </a:solidFill>
                <a:latin typeface="Open Sans"/>
                <a:ea typeface="Open Sans"/>
                <a:cs typeface="Open Sans"/>
                <a:sym typeface="Open Sans"/>
              </a:rPr>
              <a:t>GROUP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3503" y="-63503"/>
            <a:ext cx="12318997" cy="6984997"/>
            <a:chOff x="0" y="0"/>
            <a:chExt cx="12319000" cy="6985000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D0A2C">
                <a:alpha val="89804"/>
              </a:srgbClr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720725" y="587375"/>
              <a:ext cx="2314575" cy="238125"/>
            </a:xfrm>
            <a:custGeom>
              <a:avLst/>
              <a:gdLst/>
              <a:ahLst/>
              <a:cxnLst/>
              <a:rect l="l" t="t" r="r" b="b"/>
              <a:pathLst>
                <a:path w="2314575" h="238125">
                  <a:moveTo>
                    <a:pt x="0" y="193421"/>
                  </a:moveTo>
                  <a:lnTo>
                    <a:pt x="0" y="44704"/>
                  </a:lnTo>
                  <a:cubicBezTo>
                    <a:pt x="0" y="38735"/>
                    <a:pt x="1143" y="33147"/>
                    <a:pt x="3429" y="27559"/>
                  </a:cubicBezTo>
                  <a:cubicBezTo>
                    <a:pt x="5715" y="21971"/>
                    <a:pt x="8890" y="17272"/>
                    <a:pt x="13081" y="13081"/>
                  </a:cubicBezTo>
                  <a:cubicBezTo>
                    <a:pt x="17272" y="8890"/>
                    <a:pt x="22098" y="5715"/>
                    <a:pt x="27559" y="3429"/>
                  </a:cubicBezTo>
                  <a:cubicBezTo>
                    <a:pt x="33020" y="1143"/>
                    <a:pt x="38735" y="0"/>
                    <a:pt x="44704" y="0"/>
                  </a:cubicBezTo>
                  <a:lnTo>
                    <a:pt x="2269871" y="0"/>
                  </a:lnTo>
                  <a:cubicBezTo>
                    <a:pt x="2275840" y="0"/>
                    <a:pt x="2281428" y="1143"/>
                    <a:pt x="2287016" y="3429"/>
                  </a:cubicBezTo>
                  <a:cubicBezTo>
                    <a:pt x="2292604" y="5715"/>
                    <a:pt x="2297303" y="8890"/>
                    <a:pt x="2301494" y="13081"/>
                  </a:cubicBezTo>
                  <a:cubicBezTo>
                    <a:pt x="2305685" y="17272"/>
                    <a:pt x="2308860" y="22098"/>
                    <a:pt x="2311146" y="27559"/>
                  </a:cubicBezTo>
                  <a:cubicBezTo>
                    <a:pt x="2313432" y="33020"/>
                    <a:pt x="2314575" y="38735"/>
                    <a:pt x="2314575" y="44704"/>
                  </a:cubicBezTo>
                  <a:lnTo>
                    <a:pt x="2314575" y="193421"/>
                  </a:lnTo>
                  <a:cubicBezTo>
                    <a:pt x="2314575" y="199390"/>
                    <a:pt x="2313432" y="204978"/>
                    <a:pt x="2311146" y="210566"/>
                  </a:cubicBezTo>
                  <a:cubicBezTo>
                    <a:pt x="2308860" y="216154"/>
                    <a:pt x="2305685" y="220853"/>
                    <a:pt x="2301494" y="225044"/>
                  </a:cubicBezTo>
                  <a:cubicBezTo>
                    <a:pt x="2297303" y="229235"/>
                    <a:pt x="2292477" y="232410"/>
                    <a:pt x="2287016" y="234696"/>
                  </a:cubicBezTo>
                  <a:cubicBezTo>
                    <a:pt x="2281555" y="236982"/>
                    <a:pt x="2275840" y="238125"/>
                    <a:pt x="2269871" y="238125"/>
                  </a:cubicBezTo>
                  <a:lnTo>
                    <a:pt x="44704" y="238125"/>
                  </a:lnTo>
                  <a:cubicBezTo>
                    <a:pt x="38735" y="238125"/>
                    <a:pt x="33147" y="236982"/>
                    <a:pt x="27559" y="234696"/>
                  </a:cubicBezTo>
                  <a:cubicBezTo>
                    <a:pt x="21971" y="232410"/>
                    <a:pt x="17272" y="229235"/>
                    <a:pt x="13081" y="225044"/>
                  </a:cubicBezTo>
                  <a:cubicBezTo>
                    <a:pt x="8890" y="220853"/>
                    <a:pt x="5715" y="216027"/>
                    <a:pt x="3429" y="210566"/>
                  </a:cubicBezTo>
                  <a:cubicBezTo>
                    <a:pt x="1143" y="205105"/>
                    <a:pt x="0" y="199390"/>
                    <a:pt x="0" y="193421"/>
                  </a:cubicBezTo>
                  <a:close/>
                </a:path>
              </a:pathLst>
            </a:custGeom>
            <a:solidFill>
              <a:srgbClr val="1E0C41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720725" y="5473700"/>
              <a:ext cx="10877550" cy="800100"/>
            </a:xfrm>
            <a:custGeom>
              <a:avLst/>
              <a:gdLst/>
              <a:ahLst/>
              <a:cxnLst/>
              <a:rect l="l" t="t" r="r" b="b"/>
              <a:pathLst>
                <a:path w="10877550" h="800100">
                  <a:moveTo>
                    <a:pt x="0" y="744220"/>
                  </a:moveTo>
                  <a:lnTo>
                    <a:pt x="0" y="55880"/>
                  </a:lnTo>
                  <a:cubicBezTo>
                    <a:pt x="0" y="52197"/>
                    <a:pt x="381" y="48641"/>
                    <a:pt x="1016" y="44958"/>
                  </a:cubicBezTo>
                  <a:cubicBezTo>
                    <a:pt x="1651" y="41275"/>
                    <a:pt x="2794" y="37846"/>
                    <a:pt x="4191" y="34544"/>
                  </a:cubicBezTo>
                  <a:cubicBezTo>
                    <a:pt x="5588" y="31242"/>
                    <a:pt x="7366" y="27940"/>
                    <a:pt x="9398" y="24892"/>
                  </a:cubicBezTo>
                  <a:cubicBezTo>
                    <a:pt x="11430" y="21844"/>
                    <a:pt x="13716" y="19050"/>
                    <a:pt x="16383" y="16383"/>
                  </a:cubicBezTo>
                  <a:cubicBezTo>
                    <a:pt x="19050" y="13716"/>
                    <a:pt x="21844" y="11430"/>
                    <a:pt x="24892" y="9398"/>
                  </a:cubicBezTo>
                  <a:cubicBezTo>
                    <a:pt x="27940" y="7366"/>
                    <a:pt x="31115" y="5588"/>
                    <a:pt x="34544" y="4191"/>
                  </a:cubicBezTo>
                  <a:cubicBezTo>
                    <a:pt x="37973" y="2794"/>
                    <a:pt x="41402" y="1778"/>
                    <a:pt x="44958" y="1016"/>
                  </a:cubicBezTo>
                  <a:cubicBezTo>
                    <a:pt x="48514" y="254"/>
                    <a:pt x="52197" y="0"/>
                    <a:pt x="55880" y="0"/>
                  </a:cubicBezTo>
                  <a:lnTo>
                    <a:pt x="10821670" y="0"/>
                  </a:lnTo>
                  <a:cubicBezTo>
                    <a:pt x="10825352" y="0"/>
                    <a:pt x="10828909" y="381"/>
                    <a:pt x="10832592" y="1016"/>
                  </a:cubicBezTo>
                  <a:cubicBezTo>
                    <a:pt x="10836275" y="1651"/>
                    <a:pt x="10839703" y="2794"/>
                    <a:pt x="10843006" y="4191"/>
                  </a:cubicBezTo>
                  <a:cubicBezTo>
                    <a:pt x="10846308" y="5588"/>
                    <a:pt x="10849610" y="7366"/>
                    <a:pt x="10852658" y="9398"/>
                  </a:cubicBezTo>
                  <a:cubicBezTo>
                    <a:pt x="10855706" y="11430"/>
                    <a:pt x="10858500" y="13716"/>
                    <a:pt x="10861167" y="16383"/>
                  </a:cubicBezTo>
                  <a:cubicBezTo>
                    <a:pt x="10863834" y="19050"/>
                    <a:pt x="10866120" y="21844"/>
                    <a:pt x="10868151" y="24892"/>
                  </a:cubicBezTo>
                  <a:cubicBezTo>
                    <a:pt x="10870184" y="27940"/>
                    <a:pt x="10871962" y="31115"/>
                    <a:pt x="10873359" y="34544"/>
                  </a:cubicBezTo>
                  <a:cubicBezTo>
                    <a:pt x="10874756" y="37973"/>
                    <a:pt x="10875772" y="41402"/>
                    <a:pt x="10876534" y="44958"/>
                  </a:cubicBezTo>
                  <a:cubicBezTo>
                    <a:pt x="10877296" y="48514"/>
                    <a:pt x="10877550" y="52197"/>
                    <a:pt x="10877550" y="55880"/>
                  </a:cubicBezTo>
                  <a:lnTo>
                    <a:pt x="10877550" y="744220"/>
                  </a:lnTo>
                  <a:cubicBezTo>
                    <a:pt x="10877550" y="747903"/>
                    <a:pt x="10877169" y="751459"/>
                    <a:pt x="10876534" y="755142"/>
                  </a:cubicBezTo>
                  <a:cubicBezTo>
                    <a:pt x="10875899" y="758825"/>
                    <a:pt x="10874756" y="762254"/>
                    <a:pt x="10873359" y="765556"/>
                  </a:cubicBezTo>
                  <a:cubicBezTo>
                    <a:pt x="10871962" y="768858"/>
                    <a:pt x="10870184" y="772160"/>
                    <a:pt x="10868151" y="775208"/>
                  </a:cubicBezTo>
                  <a:cubicBezTo>
                    <a:pt x="10866120" y="778256"/>
                    <a:pt x="10863834" y="781050"/>
                    <a:pt x="10861167" y="783717"/>
                  </a:cubicBezTo>
                  <a:cubicBezTo>
                    <a:pt x="10858500" y="786384"/>
                    <a:pt x="10855706" y="788670"/>
                    <a:pt x="10852658" y="790702"/>
                  </a:cubicBezTo>
                  <a:cubicBezTo>
                    <a:pt x="10849610" y="792734"/>
                    <a:pt x="10846435" y="794512"/>
                    <a:pt x="10843006" y="795909"/>
                  </a:cubicBezTo>
                  <a:cubicBezTo>
                    <a:pt x="10839576" y="797306"/>
                    <a:pt x="10836148" y="798322"/>
                    <a:pt x="10832592" y="799084"/>
                  </a:cubicBezTo>
                  <a:cubicBezTo>
                    <a:pt x="10829036" y="799846"/>
                    <a:pt x="10825352" y="800100"/>
                    <a:pt x="10821670" y="800100"/>
                  </a:cubicBezTo>
                  <a:lnTo>
                    <a:pt x="55880" y="800100"/>
                  </a:lnTo>
                  <a:cubicBezTo>
                    <a:pt x="52197" y="800100"/>
                    <a:pt x="48641" y="799719"/>
                    <a:pt x="44958" y="799084"/>
                  </a:cubicBezTo>
                  <a:cubicBezTo>
                    <a:pt x="41275" y="798449"/>
                    <a:pt x="37846" y="797306"/>
                    <a:pt x="34544" y="795909"/>
                  </a:cubicBezTo>
                  <a:cubicBezTo>
                    <a:pt x="31242" y="794512"/>
                    <a:pt x="27940" y="792734"/>
                    <a:pt x="24892" y="790702"/>
                  </a:cubicBezTo>
                  <a:cubicBezTo>
                    <a:pt x="21844" y="788670"/>
                    <a:pt x="19050" y="786384"/>
                    <a:pt x="16383" y="783717"/>
                  </a:cubicBezTo>
                  <a:cubicBezTo>
                    <a:pt x="13716" y="781050"/>
                    <a:pt x="11430" y="778256"/>
                    <a:pt x="9398" y="775208"/>
                  </a:cubicBezTo>
                  <a:cubicBezTo>
                    <a:pt x="7366" y="772160"/>
                    <a:pt x="5588" y="768985"/>
                    <a:pt x="4191" y="765556"/>
                  </a:cubicBezTo>
                  <a:cubicBezTo>
                    <a:pt x="2794" y="762127"/>
                    <a:pt x="1778" y="758698"/>
                    <a:pt x="1016" y="755142"/>
                  </a:cubicBezTo>
                  <a:cubicBezTo>
                    <a:pt x="254" y="751586"/>
                    <a:pt x="0" y="747903"/>
                    <a:pt x="0" y="744220"/>
                  </a:cubicBezTo>
                  <a:close/>
                </a:path>
              </a:pathLst>
            </a:custGeom>
            <a:solidFill>
              <a:srgbClr val="31136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912495" y="5674233"/>
              <a:ext cx="139446" cy="139446"/>
            </a:xfrm>
            <a:custGeom>
              <a:avLst/>
              <a:gdLst/>
              <a:ahLst/>
              <a:cxnLst/>
              <a:rect l="l" t="t" r="r" b="b"/>
              <a:pathLst>
                <a:path w="139446" h="139446">
                  <a:moveTo>
                    <a:pt x="19939" y="14859"/>
                  </a:moveTo>
                  <a:cubicBezTo>
                    <a:pt x="17145" y="14859"/>
                    <a:pt x="14986" y="17145"/>
                    <a:pt x="14986" y="19812"/>
                  </a:cubicBezTo>
                  <a:lnTo>
                    <a:pt x="14986" y="119380"/>
                  </a:lnTo>
                  <a:cubicBezTo>
                    <a:pt x="14986" y="122174"/>
                    <a:pt x="17272" y="124333"/>
                    <a:pt x="19939" y="124333"/>
                  </a:cubicBezTo>
                  <a:lnTo>
                    <a:pt x="89662" y="124333"/>
                  </a:lnTo>
                  <a:lnTo>
                    <a:pt x="89662" y="99441"/>
                  </a:lnTo>
                  <a:cubicBezTo>
                    <a:pt x="89662" y="93980"/>
                    <a:pt x="94107" y="89535"/>
                    <a:pt x="99568" y="89535"/>
                  </a:cubicBezTo>
                  <a:lnTo>
                    <a:pt x="124460" y="89535"/>
                  </a:lnTo>
                  <a:lnTo>
                    <a:pt x="124460" y="19812"/>
                  </a:lnTo>
                  <a:cubicBezTo>
                    <a:pt x="124460" y="17018"/>
                    <a:pt x="122174" y="14859"/>
                    <a:pt x="119507" y="14859"/>
                  </a:cubicBezTo>
                  <a:lnTo>
                    <a:pt x="19939" y="14859"/>
                  </a:lnTo>
                  <a:close/>
                  <a:moveTo>
                    <a:pt x="89662" y="139446"/>
                  </a:moveTo>
                  <a:lnTo>
                    <a:pt x="19939" y="139446"/>
                  </a:lnTo>
                  <a:cubicBezTo>
                    <a:pt x="8890" y="139446"/>
                    <a:pt x="0" y="130556"/>
                    <a:pt x="0" y="119507"/>
                  </a:cubicBezTo>
                  <a:lnTo>
                    <a:pt x="0" y="19939"/>
                  </a:lnTo>
                  <a:cubicBezTo>
                    <a:pt x="0" y="8890"/>
                    <a:pt x="8890" y="0"/>
                    <a:pt x="19939" y="0"/>
                  </a:cubicBezTo>
                  <a:lnTo>
                    <a:pt x="119507" y="0"/>
                  </a:lnTo>
                  <a:cubicBezTo>
                    <a:pt x="130556" y="0"/>
                    <a:pt x="139446" y="8890"/>
                    <a:pt x="139446" y="19939"/>
                  </a:cubicBezTo>
                  <a:lnTo>
                    <a:pt x="139446" y="89662"/>
                  </a:lnTo>
                  <a:lnTo>
                    <a:pt x="139446" y="91313"/>
                  </a:lnTo>
                  <a:cubicBezTo>
                    <a:pt x="139446" y="96647"/>
                    <a:pt x="137414" y="101727"/>
                    <a:pt x="133604" y="105410"/>
                  </a:cubicBezTo>
                  <a:lnTo>
                    <a:pt x="105410" y="133604"/>
                  </a:lnTo>
                  <a:cubicBezTo>
                    <a:pt x="101727" y="137287"/>
                    <a:pt x="96647" y="139446"/>
                    <a:pt x="91313" y="139446"/>
                  </a:cubicBezTo>
                  <a:lnTo>
                    <a:pt x="89662" y="139446"/>
                  </a:lnTo>
                  <a:close/>
                </a:path>
              </a:pathLst>
            </a:custGeom>
            <a:solidFill>
              <a:srgbClr val="A17DE8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57085" y="522856"/>
            <a:ext cx="2163909" cy="1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"/>
              </a:lnSpc>
            </a:pPr>
            <a:r>
              <a:rPr lang="en-US" sz="100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01 | RIDE ACTIVITY &amp; PERFORMANCE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1540" y="852345"/>
            <a:ext cx="5670814" cy="53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sz="3139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Ride Activity &amp; Performance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83631" y="1718348"/>
            <a:ext cx="1831496" cy="1328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1"/>
              </a:lnSpc>
            </a:pPr>
            <a:r>
              <a:rPr lang="en-US" sz="4143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45,000</a:t>
            </a:r>
          </a:p>
          <a:p>
            <a:pPr algn="ctr">
              <a:lnSpc>
                <a:spcPts val="1757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All</a:t>
            </a: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ride</a:t>
            </a: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requests</a:t>
            </a: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initiated.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73884" y="2813342"/>
            <a:ext cx="39786" cy="22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22627" y="3394748"/>
            <a:ext cx="1751790" cy="100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1"/>
              </a:lnSpc>
            </a:pPr>
            <a:r>
              <a:rPr lang="en-US" sz="4143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38,101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05567" y="4489742"/>
            <a:ext cx="39786" cy="22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23983" y="2813342"/>
            <a:ext cx="39786" cy="22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33392" y="3394748"/>
            <a:ext cx="2624623" cy="100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1"/>
              </a:lnSpc>
            </a:pPr>
            <a:r>
              <a:rPr lang="en-US" sz="4143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$3.84M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80769" y="4489742"/>
            <a:ext cx="39786" cy="22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88798" y="1718348"/>
            <a:ext cx="1899666" cy="101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1"/>
              </a:lnSpc>
            </a:pPr>
            <a:r>
              <a:rPr lang="en-US" sz="4143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84.67%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15023" y="4489742"/>
            <a:ext cx="1971570" cy="22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Rides</a:t>
            </a: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successfully</a:t>
            </a: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finished.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27321" y="2813342"/>
            <a:ext cx="2228860" cy="22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Percentage</a:t>
            </a: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of</a:t>
            </a: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rides</a:t>
            </a: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completed.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34440" y="4489742"/>
            <a:ext cx="2622537" cy="22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Total</a:t>
            </a: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earnings</a:t>
            </a: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from</a:t>
            </a: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completed</a:t>
            </a: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25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rides.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9614" y="5547017"/>
            <a:ext cx="9814941" cy="468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55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A high ride completion rate (84.67%) indicates strong operational efficiency and user satisfaction, minimizing lost revenue from unfulfilled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3503" y="-63503"/>
            <a:ext cx="12318997" cy="6984997"/>
          </a:xfrm>
          <a:custGeom>
            <a:avLst/>
            <a:gdLst/>
            <a:ahLst/>
            <a:cxnLst/>
            <a:rect l="l" t="t" r="r" b="b"/>
            <a:pathLst>
              <a:path w="12318997" h="6984997">
                <a:moveTo>
                  <a:pt x="0" y="0"/>
                </a:moveTo>
                <a:lnTo>
                  <a:pt x="12318997" y="0"/>
                </a:lnTo>
                <a:lnTo>
                  <a:pt x="12318997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53666" y="527875"/>
            <a:ext cx="2719778" cy="16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3"/>
              </a:lnSpc>
            </a:pPr>
            <a:r>
              <a:rPr lang="en-US" sz="966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02 | GROUPING &amp; FILTERING AGGREGATED DATA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7225" y="825360"/>
            <a:ext cx="7470829" cy="932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2"/>
              </a:lnSpc>
            </a:pPr>
            <a:r>
              <a:rPr lang="en-US" sz="3023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Grouping &amp; Filtering Aggregated Data</a:t>
            </a:r>
          </a:p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City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4996" y="2102491"/>
            <a:ext cx="614591" cy="1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Hyderabad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048" y="3524240"/>
            <a:ext cx="427663" cy="1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Kolkata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3636" y="4235110"/>
            <a:ext cx="289436" cy="1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Pune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7503" y="4945980"/>
            <a:ext cx="285455" cy="1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Delhi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1443" y="2813361"/>
            <a:ext cx="465068" cy="1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Mumbai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8482" y="5353364"/>
            <a:ext cx="71857" cy="1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73919" y="5353364"/>
            <a:ext cx="137370" cy="1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1k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61350" y="5353364"/>
            <a:ext cx="137370" cy="1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2k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48781" y="5353364"/>
            <a:ext cx="137370" cy="1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3k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04034" y="5607263"/>
            <a:ext cx="966740" cy="1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Completed Rides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36222" y="5353364"/>
            <a:ext cx="137370" cy="1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4k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23653" y="5353364"/>
            <a:ext cx="137370" cy="167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981" b="1">
                <a:solidFill>
                  <a:srgbClr val="DCD7E5"/>
                </a:solidFill>
                <a:latin typeface="Heebo Medium"/>
                <a:ea typeface="Heebo Medium"/>
                <a:cs typeface="Heebo Medium"/>
                <a:sym typeface="Heebo Medium"/>
              </a:rPr>
              <a:t>5k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17003" y="2570131"/>
            <a:ext cx="1503855" cy="26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511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SQL Logic Flow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93162" y="4313234"/>
            <a:ext cx="712546" cy="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4"/>
              </a:lnSpc>
            </a:pPr>
            <a:r>
              <a:rPr lang="en-US" sz="93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Completed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62059" y="4466977"/>
            <a:ext cx="336052" cy="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4"/>
              </a:lnSpc>
            </a:pPr>
            <a:r>
              <a:rPr lang="en-US" sz="93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Rides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93067" y="4313234"/>
            <a:ext cx="695144" cy="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4"/>
              </a:lnSpc>
            </a:pPr>
            <a:r>
              <a:rPr lang="en-US" sz="93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GROUP BY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05951" y="4466977"/>
            <a:ext cx="228857" cy="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4"/>
              </a:lnSpc>
            </a:pPr>
            <a:r>
              <a:rPr lang="en-US" sz="93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68107" y="4387463"/>
            <a:ext cx="449199" cy="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4"/>
              </a:lnSpc>
            </a:pPr>
            <a:r>
              <a:rPr lang="en-US" sz="93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COUNT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21369" y="4313234"/>
            <a:ext cx="526494" cy="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4"/>
              </a:lnSpc>
            </a:pPr>
            <a:r>
              <a:rPr lang="en-US" sz="93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HAVING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77366" y="4466977"/>
            <a:ext cx="380219" cy="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4"/>
              </a:lnSpc>
            </a:pPr>
            <a:r>
              <a:rPr lang="en-US" sz="939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&gt;3000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20976" y="6048537"/>
            <a:ext cx="7777458" cy="224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2"/>
              </a:lnSpc>
            </a:pPr>
            <a:r>
              <a:rPr lang="en-US" sz="1209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Insight:</a:t>
            </a:r>
            <a:r>
              <a:rPr lang="en-US" sz="1209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Hyderabad records the highest completed-ride volume among the cities meeting the 3,000-ride threshold.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63503" y="-63503"/>
            <a:ext cx="12318997" cy="6984997"/>
            <a:chOff x="0" y="0"/>
            <a:chExt cx="12319000" cy="6985000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D0A2C">
                <a:alpha val="89804"/>
              </a:srgbClr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720725" y="587375"/>
              <a:ext cx="2171700" cy="285750"/>
            </a:xfrm>
            <a:custGeom>
              <a:avLst/>
              <a:gdLst/>
              <a:ahLst/>
              <a:cxnLst/>
              <a:rect l="l" t="t" r="r" b="b"/>
              <a:pathLst>
                <a:path w="2171700" h="285750">
                  <a:moveTo>
                    <a:pt x="0" y="232791"/>
                  </a:moveTo>
                  <a:lnTo>
                    <a:pt x="0" y="52959"/>
                  </a:lnTo>
                  <a:cubicBezTo>
                    <a:pt x="0" y="49530"/>
                    <a:pt x="381" y="46101"/>
                    <a:pt x="1016" y="42672"/>
                  </a:cubicBezTo>
                  <a:cubicBezTo>
                    <a:pt x="1651" y="39243"/>
                    <a:pt x="2667" y="35941"/>
                    <a:pt x="4064" y="32766"/>
                  </a:cubicBezTo>
                  <a:cubicBezTo>
                    <a:pt x="5461" y="29591"/>
                    <a:pt x="6985" y="26543"/>
                    <a:pt x="9017" y="23622"/>
                  </a:cubicBezTo>
                  <a:cubicBezTo>
                    <a:pt x="11049" y="20701"/>
                    <a:pt x="13081" y="18034"/>
                    <a:pt x="15621" y="15621"/>
                  </a:cubicBezTo>
                  <a:cubicBezTo>
                    <a:pt x="18161" y="13208"/>
                    <a:pt x="20701" y="10922"/>
                    <a:pt x="23622" y="9017"/>
                  </a:cubicBezTo>
                  <a:cubicBezTo>
                    <a:pt x="26543" y="7112"/>
                    <a:pt x="29591" y="5461"/>
                    <a:pt x="32766" y="4064"/>
                  </a:cubicBezTo>
                  <a:cubicBezTo>
                    <a:pt x="35941" y="2667"/>
                    <a:pt x="39243" y="1778"/>
                    <a:pt x="42672" y="1016"/>
                  </a:cubicBezTo>
                  <a:cubicBezTo>
                    <a:pt x="46101" y="254"/>
                    <a:pt x="49530" y="0"/>
                    <a:pt x="52959" y="0"/>
                  </a:cubicBezTo>
                  <a:lnTo>
                    <a:pt x="2118741" y="0"/>
                  </a:lnTo>
                  <a:cubicBezTo>
                    <a:pt x="2122170" y="0"/>
                    <a:pt x="2125599" y="381"/>
                    <a:pt x="2129028" y="1016"/>
                  </a:cubicBezTo>
                  <a:cubicBezTo>
                    <a:pt x="2132457" y="1651"/>
                    <a:pt x="2135759" y="2667"/>
                    <a:pt x="2138934" y="4064"/>
                  </a:cubicBezTo>
                  <a:cubicBezTo>
                    <a:pt x="2142109" y="5461"/>
                    <a:pt x="2145157" y="6985"/>
                    <a:pt x="2148078" y="9017"/>
                  </a:cubicBezTo>
                  <a:cubicBezTo>
                    <a:pt x="2150999" y="11049"/>
                    <a:pt x="2153666" y="13081"/>
                    <a:pt x="2156079" y="15621"/>
                  </a:cubicBezTo>
                  <a:cubicBezTo>
                    <a:pt x="2158492" y="18161"/>
                    <a:pt x="2160778" y="20701"/>
                    <a:pt x="2162683" y="23622"/>
                  </a:cubicBezTo>
                  <a:cubicBezTo>
                    <a:pt x="2164588" y="26543"/>
                    <a:pt x="2166239" y="29591"/>
                    <a:pt x="2167636" y="32766"/>
                  </a:cubicBezTo>
                  <a:cubicBezTo>
                    <a:pt x="2169033" y="35941"/>
                    <a:pt x="2169922" y="39243"/>
                    <a:pt x="2170684" y="42672"/>
                  </a:cubicBezTo>
                  <a:cubicBezTo>
                    <a:pt x="2171446" y="46101"/>
                    <a:pt x="2171700" y="49530"/>
                    <a:pt x="2171700" y="52959"/>
                  </a:cubicBezTo>
                  <a:lnTo>
                    <a:pt x="2171700" y="232791"/>
                  </a:lnTo>
                  <a:cubicBezTo>
                    <a:pt x="2171700" y="236220"/>
                    <a:pt x="2171319" y="239649"/>
                    <a:pt x="2170684" y="243078"/>
                  </a:cubicBezTo>
                  <a:cubicBezTo>
                    <a:pt x="2170049" y="246507"/>
                    <a:pt x="2169033" y="249809"/>
                    <a:pt x="2167636" y="252984"/>
                  </a:cubicBezTo>
                  <a:cubicBezTo>
                    <a:pt x="2166239" y="256159"/>
                    <a:pt x="2164715" y="259207"/>
                    <a:pt x="2162683" y="262128"/>
                  </a:cubicBezTo>
                  <a:cubicBezTo>
                    <a:pt x="2160651" y="265049"/>
                    <a:pt x="2158619" y="267716"/>
                    <a:pt x="2156079" y="270129"/>
                  </a:cubicBezTo>
                  <a:cubicBezTo>
                    <a:pt x="2153539" y="272542"/>
                    <a:pt x="2150999" y="274828"/>
                    <a:pt x="2148078" y="276733"/>
                  </a:cubicBezTo>
                  <a:cubicBezTo>
                    <a:pt x="2145157" y="278638"/>
                    <a:pt x="2142109" y="280289"/>
                    <a:pt x="2138934" y="281686"/>
                  </a:cubicBezTo>
                  <a:cubicBezTo>
                    <a:pt x="2135759" y="283083"/>
                    <a:pt x="2132457" y="283972"/>
                    <a:pt x="2129028" y="284734"/>
                  </a:cubicBezTo>
                  <a:cubicBezTo>
                    <a:pt x="2125599" y="285496"/>
                    <a:pt x="2122170" y="285750"/>
                    <a:pt x="2118741" y="285750"/>
                  </a:cubicBezTo>
                  <a:lnTo>
                    <a:pt x="52959" y="285750"/>
                  </a:lnTo>
                  <a:cubicBezTo>
                    <a:pt x="49530" y="285750"/>
                    <a:pt x="46101" y="285369"/>
                    <a:pt x="42672" y="284734"/>
                  </a:cubicBezTo>
                  <a:cubicBezTo>
                    <a:pt x="39243" y="284099"/>
                    <a:pt x="35941" y="283083"/>
                    <a:pt x="32766" y="281686"/>
                  </a:cubicBezTo>
                  <a:cubicBezTo>
                    <a:pt x="29591" y="280289"/>
                    <a:pt x="26543" y="278765"/>
                    <a:pt x="23622" y="276733"/>
                  </a:cubicBezTo>
                  <a:cubicBezTo>
                    <a:pt x="20701" y="274701"/>
                    <a:pt x="18034" y="272669"/>
                    <a:pt x="15621" y="270129"/>
                  </a:cubicBezTo>
                  <a:cubicBezTo>
                    <a:pt x="13208" y="267589"/>
                    <a:pt x="10922" y="265049"/>
                    <a:pt x="9017" y="262128"/>
                  </a:cubicBezTo>
                  <a:cubicBezTo>
                    <a:pt x="7112" y="259207"/>
                    <a:pt x="5461" y="256159"/>
                    <a:pt x="4064" y="252984"/>
                  </a:cubicBezTo>
                  <a:cubicBezTo>
                    <a:pt x="2667" y="249809"/>
                    <a:pt x="1778" y="246507"/>
                    <a:pt x="1016" y="243078"/>
                  </a:cubicBezTo>
                  <a:cubicBezTo>
                    <a:pt x="254" y="239649"/>
                    <a:pt x="0" y="236220"/>
                    <a:pt x="0" y="232791"/>
                  </a:cubicBezTo>
                  <a:close/>
                </a:path>
              </a:pathLst>
            </a:custGeom>
            <a:solidFill>
              <a:srgbClr val="1E0C41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720598" y="3035173"/>
              <a:ext cx="5210429" cy="1571879"/>
            </a:xfrm>
            <a:custGeom>
              <a:avLst/>
              <a:gdLst/>
              <a:ahLst/>
              <a:cxnLst/>
              <a:rect l="l" t="t" r="r" b="b"/>
              <a:pathLst>
                <a:path w="5210429" h="1571879">
                  <a:moveTo>
                    <a:pt x="127" y="1505585"/>
                  </a:moveTo>
                  <a:lnTo>
                    <a:pt x="127" y="66294"/>
                  </a:lnTo>
                  <a:lnTo>
                    <a:pt x="4953" y="66294"/>
                  </a:lnTo>
                  <a:lnTo>
                    <a:pt x="127" y="66294"/>
                  </a:lnTo>
                  <a:cubicBezTo>
                    <a:pt x="127" y="61976"/>
                    <a:pt x="508" y="57658"/>
                    <a:pt x="1397" y="53340"/>
                  </a:cubicBezTo>
                  <a:cubicBezTo>
                    <a:pt x="2286" y="49022"/>
                    <a:pt x="3556" y="44958"/>
                    <a:pt x="5207" y="40894"/>
                  </a:cubicBezTo>
                  <a:lnTo>
                    <a:pt x="9652" y="42672"/>
                  </a:lnTo>
                  <a:lnTo>
                    <a:pt x="5207" y="40894"/>
                  </a:lnTo>
                  <a:cubicBezTo>
                    <a:pt x="6858" y="36830"/>
                    <a:pt x="8890" y="33020"/>
                    <a:pt x="11303" y="29464"/>
                  </a:cubicBezTo>
                  <a:cubicBezTo>
                    <a:pt x="13716" y="25908"/>
                    <a:pt x="16510" y="22479"/>
                    <a:pt x="19558" y="19431"/>
                  </a:cubicBezTo>
                  <a:lnTo>
                    <a:pt x="22987" y="22860"/>
                  </a:lnTo>
                  <a:lnTo>
                    <a:pt x="19558" y="19431"/>
                  </a:lnTo>
                  <a:cubicBezTo>
                    <a:pt x="22606" y="16383"/>
                    <a:pt x="26035" y="13589"/>
                    <a:pt x="29591" y="11176"/>
                  </a:cubicBezTo>
                  <a:cubicBezTo>
                    <a:pt x="33147" y="8763"/>
                    <a:pt x="36957" y="6731"/>
                    <a:pt x="41021" y="5080"/>
                  </a:cubicBezTo>
                  <a:cubicBezTo>
                    <a:pt x="45085" y="3429"/>
                    <a:pt x="49149" y="2159"/>
                    <a:pt x="53467" y="1270"/>
                  </a:cubicBezTo>
                  <a:lnTo>
                    <a:pt x="54356" y="5969"/>
                  </a:lnTo>
                  <a:lnTo>
                    <a:pt x="53467" y="1270"/>
                  </a:lnTo>
                  <a:cubicBezTo>
                    <a:pt x="57785" y="381"/>
                    <a:pt x="61976" y="0"/>
                    <a:pt x="66421" y="0"/>
                  </a:cubicBezTo>
                  <a:lnTo>
                    <a:pt x="66421" y="4826"/>
                  </a:lnTo>
                  <a:lnTo>
                    <a:pt x="66421" y="127"/>
                  </a:lnTo>
                  <a:lnTo>
                    <a:pt x="5144135" y="127"/>
                  </a:lnTo>
                  <a:lnTo>
                    <a:pt x="5144135" y="4953"/>
                  </a:lnTo>
                  <a:lnTo>
                    <a:pt x="5144135" y="127"/>
                  </a:lnTo>
                  <a:cubicBezTo>
                    <a:pt x="5148453" y="127"/>
                    <a:pt x="5152771" y="508"/>
                    <a:pt x="5157089" y="1397"/>
                  </a:cubicBezTo>
                  <a:lnTo>
                    <a:pt x="5156200" y="6096"/>
                  </a:lnTo>
                  <a:lnTo>
                    <a:pt x="5157089" y="1397"/>
                  </a:lnTo>
                  <a:cubicBezTo>
                    <a:pt x="5161407" y="2286"/>
                    <a:pt x="5165471" y="3556"/>
                    <a:pt x="5169535" y="5207"/>
                  </a:cubicBezTo>
                  <a:lnTo>
                    <a:pt x="5167757" y="9652"/>
                  </a:lnTo>
                  <a:lnTo>
                    <a:pt x="5169535" y="5207"/>
                  </a:lnTo>
                  <a:cubicBezTo>
                    <a:pt x="5173599" y="6858"/>
                    <a:pt x="5177409" y="8890"/>
                    <a:pt x="5180965" y="11303"/>
                  </a:cubicBezTo>
                  <a:cubicBezTo>
                    <a:pt x="5184521" y="13716"/>
                    <a:pt x="5187950" y="16510"/>
                    <a:pt x="5190998" y="19558"/>
                  </a:cubicBezTo>
                  <a:cubicBezTo>
                    <a:pt x="5194046" y="22606"/>
                    <a:pt x="5196840" y="26035"/>
                    <a:pt x="5199253" y="29591"/>
                  </a:cubicBezTo>
                  <a:lnTo>
                    <a:pt x="5195316" y="32258"/>
                  </a:lnTo>
                  <a:lnTo>
                    <a:pt x="5199253" y="29591"/>
                  </a:lnTo>
                  <a:cubicBezTo>
                    <a:pt x="5201666" y="33147"/>
                    <a:pt x="5203698" y="36957"/>
                    <a:pt x="5205349" y="41021"/>
                  </a:cubicBezTo>
                  <a:lnTo>
                    <a:pt x="5200904" y="42799"/>
                  </a:lnTo>
                  <a:lnTo>
                    <a:pt x="5205349" y="41021"/>
                  </a:lnTo>
                  <a:cubicBezTo>
                    <a:pt x="5207000" y="45085"/>
                    <a:pt x="5208270" y="49149"/>
                    <a:pt x="5209159" y="53467"/>
                  </a:cubicBezTo>
                  <a:cubicBezTo>
                    <a:pt x="5210048" y="57785"/>
                    <a:pt x="5210429" y="61976"/>
                    <a:pt x="5210429" y="66421"/>
                  </a:cubicBezTo>
                  <a:lnTo>
                    <a:pt x="5205603" y="66421"/>
                  </a:lnTo>
                  <a:lnTo>
                    <a:pt x="5210429" y="66421"/>
                  </a:lnTo>
                  <a:lnTo>
                    <a:pt x="5210429" y="1505585"/>
                  </a:lnTo>
                  <a:lnTo>
                    <a:pt x="5205603" y="1505585"/>
                  </a:lnTo>
                  <a:lnTo>
                    <a:pt x="5210429" y="1505585"/>
                  </a:lnTo>
                  <a:cubicBezTo>
                    <a:pt x="5210429" y="1509903"/>
                    <a:pt x="5210048" y="1514221"/>
                    <a:pt x="5209159" y="1518539"/>
                  </a:cubicBezTo>
                  <a:lnTo>
                    <a:pt x="5204460" y="1517650"/>
                  </a:lnTo>
                  <a:lnTo>
                    <a:pt x="5209159" y="1518539"/>
                  </a:lnTo>
                  <a:cubicBezTo>
                    <a:pt x="5208270" y="1522857"/>
                    <a:pt x="5207000" y="1526921"/>
                    <a:pt x="5205349" y="1530985"/>
                  </a:cubicBezTo>
                  <a:lnTo>
                    <a:pt x="5200904" y="1529207"/>
                  </a:lnTo>
                  <a:lnTo>
                    <a:pt x="5205349" y="1530985"/>
                  </a:lnTo>
                  <a:cubicBezTo>
                    <a:pt x="5203698" y="1535049"/>
                    <a:pt x="5201666" y="1538859"/>
                    <a:pt x="5199253" y="1542415"/>
                  </a:cubicBezTo>
                  <a:lnTo>
                    <a:pt x="5195316" y="1539748"/>
                  </a:lnTo>
                  <a:lnTo>
                    <a:pt x="5199253" y="1542415"/>
                  </a:lnTo>
                  <a:cubicBezTo>
                    <a:pt x="5196840" y="1545971"/>
                    <a:pt x="5194046" y="1549400"/>
                    <a:pt x="5190998" y="1552448"/>
                  </a:cubicBezTo>
                  <a:cubicBezTo>
                    <a:pt x="5187950" y="1555496"/>
                    <a:pt x="5184521" y="1558290"/>
                    <a:pt x="5180965" y="1560703"/>
                  </a:cubicBezTo>
                  <a:lnTo>
                    <a:pt x="5178298" y="1556766"/>
                  </a:lnTo>
                  <a:lnTo>
                    <a:pt x="5180965" y="1560703"/>
                  </a:lnTo>
                  <a:cubicBezTo>
                    <a:pt x="5177409" y="1563116"/>
                    <a:pt x="5173599" y="1565148"/>
                    <a:pt x="5169535" y="1566799"/>
                  </a:cubicBezTo>
                  <a:lnTo>
                    <a:pt x="5167757" y="1562354"/>
                  </a:lnTo>
                  <a:lnTo>
                    <a:pt x="5169535" y="1566799"/>
                  </a:lnTo>
                  <a:cubicBezTo>
                    <a:pt x="5165471" y="1568450"/>
                    <a:pt x="5161407" y="1569720"/>
                    <a:pt x="5157089" y="1570609"/>
                  </a:cubicBezTo>
                  <a:lnTo>
                    <a:pt x="5156200" y="1565910"/>
                  </a:lnTo>
                  <a:lnTo>
                    <a:pt x="5157089" y="1570609"/>
                  </a:lnTo>
                  <a:cubicBezTo>
                    <a:pt x="5152771" y="1571498"/>
                    <a:pt x="5148580" y="1571879"/>
                    <a:pt x="5144135" y="1571879"/>
                  </a:cubicBezTo>
                  <a:lnTo>
                    <a:pt x="66294" y="1571879"/>
                  </a:lnTo>
                  <a:cubicBezTo>
                    <a:pt x="61976" y="1571879"/>
                    <a:pt x="57658" y="1571498"/>
                    <a:pt x="53340" y="1570609"/>
                  </a:cubicBezTo>
                  <a:lnTo>
                    <a:pt x="54229" y="1565910"/>
                  </a:lnTo>
                  <a:lnTo>
                    <a:pt x="53340" y="1570609"/>
                  </a:lnTo>
                  <a:cubicBezTo>
                    <a:pt x="49022" y="1569720"/>
                    <a:pt x="44958" y="1568450"/>
                    <a:pt x="40894" y="1566799"/>
                  </a:cubicBezTo>
                  <a:cubicBezTo>
                    <a:pt x="36830" y="1565148"/>
                    <a:pt x="33020" y="1563116"/>
                    <a:pt x="29464" y="1560703"/>
                  </a:cubicBezTo>
                  <a:lnTo>
                    <a:pt x="32131" y="1556766"/>
                  </a:lnTo>
                  <a:lnTo>
                    <a:pt x="29464" y="1560703"/>
                  </a:lnTo>
                  <a:cubicBezTo>
                    <a:pt x="25908" y="1558290"/>
                    <a:pt x="22479" y="1555496"/>
                    <a:pt x="19431" y="1552448"/>
                  </a:cubicBezTo>
                  <a:lnTo>
                    <a:pt x="22860" y="1549019"/>
                  </a:lnTo>
                  <a:lnTo>
                    <a:pt x="19431" y="1552448"/>
                  </a:lnTo>
                  <a:cubicBezTo>
                    <a:pt x="16383" y="1549400"/>
                    <a:pt x="13589" y="1545971"/>
                    <a:pt x="11176" y="1542415"/>
                  </a:cubicBezTo>
                  <a:cubicBezTo>
                    <a:pt x="8763" y="1538859"/>
                    <a:pt x="6731" y="1535049"/>
                    <a:pt x="5080" y="1530985"/>
                  </a:cubicBezTo>
                  <a:lnTo>
                    <a:pt x="9525" y="1529207"/>
                  </a:lnTo>
                  <a:lnTo>
                    <a:pt x="5080" y="1530985"/>
                  </a:lnTo>
                  <a:cubicBezTo>
                    <a:pt x="3429" y="1526921"/>
                    <a:pt x="2159" y="1522857"/>
                    <a:pt x="1270" y="1518539"/>
                  </a:cubicBezTo>
                  <a:lnTo>
                    <a:pt x="5969" y="1517650"/>
                  </a:lnTo>
                  <a:lnTo>
                    <a:pt x="1270" y="1518539"/>
                  </a:lnTo>
                  <a:cubicBezTo>
                    <a:pt x="381" y="1514221"/>
                    <a:pt x="0" y="1510030"/>
                    <a:pt x="0" y="1505585"/>
                  </a:cubicBezTo>
                  <a:lnTo>
                    <a:pt x="4826" y="1505585"/>
                  </a:lnTo>
                  <a:lnTo>
                    <a:pt x="0" y="1505585"/>
                  </a:lnTo>
                  <a:moveTo>
                    <a:pt x="9525" y="1505585"/>
                  </a:moveTo>
                  <a:cubicBezTo>
                    <a:pt x="9525" y="1509268"/>
                    <a:pt x="9906" y="1512951"/>
                    <a:pt x="10668" y="1516634"/>
                  </a:cubicBezTo>
                  <a:cubicBezTo>
                    <a:pt x="11430" y="1520317"/>
                    <a:pt x="12446" y="1523873"/>
                    <a:pt x="13843" y="1527302"/>
                  </a:cubicBezTo>
                  <a:cubicBezTo>
                    <a:pt x="15240" y="1530731"/>
                    <a:pt x="17018" y="1534033"/>
                    <a:pt x="19050" y="1537081"/>
                  </a:cubicBezTo>
                  <a:lnTo>
                    <a:pt x="15113" y="1539748"/>
                  </a:lnTo>
                  <a:lnTo>
                    <a:pt x="19050" y="1537081"/>
                  </a:lnTo>
                  <a:cubicBezTo>
                    <a:pt x="21082" y="1540129"/>
                    <a:pt x="23495" y="1543050"/>
                    <a:pt x="26035" y="1545717"/>
                  </a:cubicBezTo>
                  <a:cubicBezTo>
                    <a:pt x="28702" y="1548384"/>
                    <a:pt x="31496" y="1550670"/>
                    <a:pt x="34671" y="1552702"/>
                  </a:cubicBezTo>
                  <a:cubicBezTo>
                    <a:pt x="37719" y="1554734"/>
                    <a:pt x="41021" y="1556512"/>
                    <a:pt x="44450" y="1557909"/>
                  </a:cubicBezTo>
                  <a:lnTo>
                    <a:pt x="42672" y="1562354"/>
                  </a:lnTo>
                  <a:lnTo>
                    <a:pt x="44450" y="1557909"/>
                  </a:lnTo>
                  <a:cubicBezTo>
                    <a:pt x="47879" y="1559306"/>
                    <a:pt x="51435" y="1560449"/>
                    <a:pt x="55118" y="1561084"/>
                  </a:cubicBezTo>
                  <a:cubicBezTo>
                    <a:pt x="58801" y="1561719"/>
                    <a:pt x="62484" y="1562227"/>
                    <a:pt x="66167" y="1562227"/>
                  </a:cubicBezTo>
                  <a:lnTo>
                    <a:pt x="66167" y="1566926"/>
                  </a:lnTo>
                  <a:lnTo>
                    <a:pt x="66167" y="1562227"/>
                  </a:lnTo>
                  <a:lnTo>
                    <a:pt x="5144135" y="1562227"/>
                  </a:lnTo>
                  <a:lnTo>
                    <a:pt x="5144135" y="1567053"/>
                  </a:lnTo>
                  <a:lnTo>
                    <a:pt x="5144135" y="1562354"/>
                  </a:lnTo>
                  <a:cubicBezTo>
                    <a:pt x="5147818" y="1562354"/>
                    <a:pt x="5151501" y="1561973"/>
                    <a:pt x="5155184" y="1561211"/>
                  </a:cubicBezTo>
                  <a:cubicBezTo>
                    <a:pt x="5158867" y="1560449"/>
                    <a:pt x="5162423" y="1559433"/>
                    <a:pt x="5165852" y="1558036"/>
                  </a:cubicBezTo>
                  <a:cubicBezTo>
                    <a:pt x="5169281" y="1556639"/>
                    <a:pt x="5172583" y="1554861"/>
                    <a:pt x="5175631" y="1552829"/>
                  </a:cubicBezTo>
                  <a:cubicBezTo>
                    <a:pt x="5178679" y="1550797"/>
                    <a:pt x="5181600" y="1548384"/>
                    <a:pt x="5184267" y="1545844"/>
                  </a:cubicBezTo>
                  <a:lnTo>
                    <a:pt x="5187696" y="1549273"/>
                  </a:lnTo>
                  <a:lnTo>
                    <a:pt x="5184267" y="1545844"/>
                  </a:lnTo>
                  <a:cubicBezTo>
                    <a:pt x="5186934" y="1543177"/>
                    <a:pt x="5189220" y="1540383"/>
                    <a:pt x="5191252" y="1537208"/>
                  </a:cubicBezTo>
                  <a:cubicBezTo>
                    <a:pt x="5193284" y="1534160"/>
                    <a:pt x="5195062" y="1530858"/>
                    <a:pt x="5196459" y="1527429"/>
                  </a:cubicBezTo>
                  <a:cubicBezTo>
                    <a:pt x="5197856" y="1524000"/>
                    <a:pt x="5198999" y="1520444"/>
                    <a:pt x="5199634" y="1516761"/>
                  </a:cubicBezTo>
                  <a:cubicBezTo>
                    <a:pt x="5200269" y="1513078"/>
                    <a:pt x="5200777" y="1509395"/>
                    <a:pt x="5200777" y="1505712"/>
                  </a:cubicBezTo>
                  <a:lnTo>
                    <a:pt x="5200777" y="66294"/>
                  </a:lnTo>
                  <a:cubicBezTo>
                    <a:pt x="5200777" y="62611"/>
                    <a:pt x="5200396" y="58928"/>
                    <a:pt x="5199634" y="55245"/>
                  </a:cubicBezTo>
                  <a:lnTo>
                    <a:pt x="5204333" y="54356"/>
                  </a:lnTo>
                  <a:lnTo>
                    <a:pt x="5199634" y="55245"/>
                  </a:lnTo>
                  <a:cubicBezTo>
                    <a:pt x="5198872" y="51562"/>
                    <a:pt x="5197856" y="48006"/>
                    <a:pt x="5196459" y="44577"/>
                  </a:cubicBezTo>
                  <a:cubicBezTo>
                    <a:pt x="5195062" y="41148"/>
                    <a:pt x="5193284" y="37846"/>
                    <a:pt x="5191252" y="34798"/>
                  </a:cubicBezTo>
                  <a:cubicBezTo>
                    <a:pt x="5189220" y="31750"/>
                    <a:pt x="5186807" y="28829"/>
                    <a:pt x="5184267" y="26162"/>
                  </a:cubicBezTo>
                  <a:lnTo>
                    <a:pt x="5187696" y="22733"/>
                  </a:lnTo>
                  <a:lnTo>
                    <a:pt x="5184267" y="26162"/>
                  </a:lnTo>
                  <a:cubicBezTo>
                    <a:pt x="5181600" y="23495"/>
                    <a:pt x="5178806" y="21209"/>
                    <a:pt x="5175631" y="19177"/>
                  </a:cubicBezTo>
                  <a:lnTo>
                    <a:pt x="5178298" y="15240"/>
                  </a:lnTo>
                  <a:lnTo>
                    <a:pt x="5175631" y="19177"/>
                  </a:lnTo>
                  <a:cubicBezTo>
                    <a:pt x="5172583" y="17145"/>
                    <a:pt x="5169281" y="15367"/>
                    <a:pt x="5165852" y="13970"/>
                  </a:cubicBezTo>
                  <a:cubicBezTo>
                    <a:pt x="5162423" y="12573"/>
                    <a:pt x="5158867" y="11430"/>
                    <a:pt x="5155184" y="10795"/>
                  </a:cubicBezTo>
                  <a:cubicBezTo>
                    <a:pt x="5151501" y="10033"/>
                    <a:pt x="5147818" y="9652"/>
                    <a:pt x="5144135" y="9652"/>
                  </a:cubicBezTo>
                  <a:lnTo>
                    <a:pt x="66294" y="9652"/>
                  </a:lnTo>
                  <a:cubicBezTo>
                    <a:pt x="62611" y="9652"/>
                    <a:pt x="58928" y="10033"/>
                    <a:pt x="55245" y="10795"/>
                  </a:cubicBezTo>
                  <a:cubicBezTo>
                    <a:pt x="51562" y="11557"/>
                    <a:pt x="48006" y="12573"/>
                    <a:pt x="44577" y="13970"/>
                  </a:cubicBezTo>
                  <a:lnTo>
                    <a:pt x="42799" y="9525"/>
                  </a:lnTo>
                  <a:lnTo>
                    <a:pt x="44577" y="13970"/>
                  </a:lnTo>
                  <a:cubicBezTo>
                    <a:pt x="41148" y="15367"/>
                    <a:pt x="37846" y="17145"/>
                    <a:pt x="34798" y="19177"/>
                  </a:cubicBezTo>
                  <a:lnTo>
                    <a:pt x="32131" y="15240"/>
                  </a:lnTo>
                  <a:lnTo>
                    <a:pt x="34798" y="19177"/>
                  </a:lnTo>
                  <a:cubicBezTo>
                    <a:pt x="31750" y="21209"/>
                    <a:pt x="28829" y="23622"/>
                    <a:pt x="26162" y="26162"/>
                  </a:cubicBezTo>
                  <a:cubicBezTo>
                    <a:pt x="23495" y="28829"/>
                    <a:pt x="21209" y="31623"/>
                    <a:pt x="19177" y="34798"/>
                  </a:cubicBezTo>
                  <a:lnTo>
                    <a:pt x="15240" y="32131"/>
                  </a:lnTo>
                  <a:lnTo>
                    <a:pt x="19177" y="34798"/>
                  </a:lnTo>
                  <a:cubicBezTo>
                    <a:pt x="17145" y="37846"/>
                    <a:pt x="15367" y="41148"/>
                    <a:pt x="13970" y="44577"/>
                  </a:cubicBezTo>
                  <a:cubicBezTo>
                    <a:pt x="12573" y="48006"/>
                    <a:pt x="11430" y="51562"/>
                    <a:pt x="10795" y="55245"/>
                  </a:cubicBezTo>
                  <a:lnTo>
                    <a:pt x="6096" y="54356"/>
                  </a:lnTo>
                  <a:lnTo>
                    <a:pt x="10795" y="55245"/>
                  </a:lnTo>
                  <a:cubicBezTo>
                    <a:pt x="10033" y="58928"/>
                    <a:pt x="9652" y="62611"/>
                    <a:pt x="9652" y="66294"/>
                  </a:cubicBezTo>
                  <a:lnTo>
                    <a:pt x="9652" y="150558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3006725" y="3044825"/>
              <a:ext cx="9525" cy="1552575"/>
            </a:xfrm>
            <a:custGeom>
              <a:avLst/>
              <a:gdLst/>
              <a:ahLst/>
              <a:cxnLst/>
              <a:rect l="l" t="t" r="r" b="b"/>
              <a:pathLst>
                <a:path w="9525" h="1552575">
                  <a:moveTo>
                    <a:pt x="0" y="0"/>
                  </a:moveTo>
                  <a:lnTo>
                    <a:pt x="9525" y="0"/>
                  </a:lnTo>
                  <a:lnTo>
                    <a:pt x="9525" y="1552575"/>
                  </a:lnTo>
                  <a:lnTo>
                    <a:pt x="0" y="155257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635375" y="3044825"/>
              <a:ext cx="9525" cy="1552575"/>
            </a:xfrm>
            <a:custGeom>
              <a:avLst/>
              <a:gdLst/>
              <a:ahLst/>
              <a:cxnLst/>
              <a:rect l="l" t="t" r="r" b="b"/>
              <a:pathLst>
                <a:path w="9525" h="1552575">
                  <a:moveTo>
                    <a:pt x="0" y="0"/>
                  </a:moveTo>
                  <a:lnTo>
                    <a:pt x="9525" y="0"/>
                  </a:lnTo>
                  <a:lnTo>
                    <a:pt x="9525" y="1552575"/>
                  </a:lnTo>
                  <a:lnTo>
                    <a:pt x="0" y="155257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397498" y="3035173"/>
              <a:ext cx="5210428" cy="1571879"/>
            </a:xfrm>
            <a:custGeom>
              <a:avLst/>
              <a:gdLst/>
              <a:ahLst/>
              <a:cxnLst/>
              <a:rect l="l" t="t" r="r" b="b"/>
              <a:pathLst>
                <a:path w="5210428" h="1571879">
                  <a:moveTo>
                    <a:pt x="127" y="1505585"/>
                  </a:moveTo>
                  <a:lnTo>
                    <a:pt x="127" y="66294"/>
                  </a:lnTo>
                  <a:lnTo>
                    <a:pt x="4953" y="66294"/>
                  </a:lnTo>
                  <a:lnTo>
                    <a:pt x="127" y="66294"/>
                  </a:lnTo>
                  <a:cubicBezTo>
                    <a:pt x="127" y="61976"/>
                    <a:pt x="508" y="57658"/>
                    <a:pt x="1397" y="53340"/>
                  </a:cubicBezTo>
                  <a:lnTo>
                    <a:pt x="6096" y="54229"/>
                  </a:lnTo>
                  <a:lnTo>
                    <a:pt x="1397" y="53340"/>
                  </a:lnTo>
                  <a:cubicBezTo>
                    <a:pt x="2286" y="49022"/>
                    <a:pt x="3556" y="44958"/>
                    <a:pt x="5207" y="40894"/>
                  </a:cubicBezTo>
                  <a:lnTo>
                    <a:pt x="9652" y="42672"/>
                  </a:lnTo>
                  <a:lnTo>
                    <a:pt x="5207" y="40894"/>
                  </a:lnTo>
                  <a:cubicBezTo>
                    <a:pt x="6858" y="36830"/>
                    <a:pt x="8890" y="33020"/>
                    <a:pt x="11303" y="29464"/>
                  </a:cubicBezTo>
                  <a:cubicBezTo>
                    <a:pt x="13716" y="25908"/>
                    <a:pt x="16510" y="22479"/>
                    <a:pt x="19558" y="19431"/>
                  </a:cubicBezTo>
                  <a:cubicBezTo>
                    <a:pt x="22606" y="16383"/>
                    <a:pt x="26035" y="13589"/>
                    <a:pt x="29591" y="11176"/>
                  </a:cubicBezTo>
                  <a:cubicBezTo>
                    <a:pt x="33147" y="8763"/>
                    <a:pt x="36957" y="6731"/>
                    <a:pt x="41021" y="5080"/>
                  </a:cubicBezTo>
                  <a:lnTo>
                    <a:pt x="42799" y="9525"/>
                  </a:lnTo>
                  <a:lnTo>
                    <a:pt x="41021" y="5080"/>
                  </a:lnTo>
                  <a:cubicBezTo>
                    <a:pt x="45085" y="3429"/>
                    <a:pt x="49149" y="2159"/>
                    <a:pt x="53467" y="1270"/>
                  </a:cubicBezTo>
                  <a:cubicBezTo>
                    <a:pt x="57785" y="381"/>
                    <a:pt x="61976" y="0"/>
                    <a:pt x="66421" y="0"/>
                  </a:cubicBezTo>
                  <a:lnTo>
                    <a:pt x="66421" y="4826"/>
                  </a:lnTo>
                  <a:lnTo>
                    <a:pt x="66421" y="127"/>
                  </a:lnTo>
                  <a:lnTo>
                    <a:pt x="5144135" y="127"/>
                  </a:lnTo>
                  <a:lnTo>
                    <a:pt x="5144135" y="4953"/>
                  </a:lnTo>
                  <a:lnTo>
                    <a:pt x="5144135" y="127"/>
                  </a:lnTo>
                  <a:cubicBezTo>
                    <a:pt x="5148453" y="127"/>
                    <a:pt x="5152771" y="508"/>
                    <a:pt x="5157089" y="1397"/>
                  </a:cubicBezTo>
                  <a:lnTo>
                    <a:pt x="5156200" y="6096"/>
                  </a:lnTo>
                  <a:lnTo>
                    <a:pt x="5157089" y="1397"/>
                  </a:lnTo>
                  <a:cubicBezTo>
                    <a:pt x="5161407" y="2286"/>
                    <a:pt x="5165471" y="3556"/>
                    <a:pt x="5169535" y="5207"/>
                  </a:cubicBezTo>
                  <a:lnTo>
                    <a:pt x="5167757" y="9652"/>
                  </a:lnTo>
                  <a:lnTo>
                    <a:pt x="5169535" y="5207"/>
                  </a:lnTo>
                  <a:cubicBezTo>
                    <a:pt x="5173599" y="6858"/>
                    <a:pt x="5177409" y="8890"/>
                    <a:pt x="5180965" y="11303"/>
                  </a:cubicBezTo>
                  <a:cubicBezTo>
                    <a:pt x="5184521" y="13716"/>
                    <a:pt x="5187950" y="16510"/>
                    <a:pt x="5190998" y="19558"/>
                  </a:cubicBezTo>
                  <a:lnTo>
                    <a:pt x="5187569" y="22987"/>
                  </a:lnTo>
                  <a:lnTo>
                    <a:pt x="5190998" y="19558"/>
                  </a:lnTo>
                  <a:cubicBezTo>
                    <a:pt x="5194046" y="22606"/>
                    <a:pt x="5196840" y="26035"/>
                    <a:pt x="5199253" y="29591"/>
                  </a:cubicBezTo>
                  <a:lnTo>
                    <a:pt x="5195316" y="32258"/>
                  </a:lnTo>
                  <a:lnTo>
                    <a:pt x="5199253" y="29591"/>
                  </a:lnTo>
                  <a:cubicBezTo>
                    <a:pt x="5201666" y="33147"/>
                    <a:pt x="5203698" y="36957"/>
                    <a:pt x="5205349" y="41021"/>
                  </a:cubicBezTo>
                  <a:lnTo>
                    <a:pt x="5200903" y="42799"/>
                  </a:lnTo>
                  <a:lnTo>
                    <a:pt x="5205349" y="41021"/>
                  </a:lnTo>
                  <a:cubicBezTo>
                    <a:pt x="5207000" y="45085"/>
                    <a:pt x="5208270" y="49149"/>
                    <a:pt x="5209159" y="53467"/>
                  </a:cubicBezTo>
                  <a:lnTo>
                    <a:pt x="5204460" y="54356"/>
                  </a:lnTo>
                  <a:lnTo>
                    <a:pt x="5209159" y="53467"/>
                  </a:lnTo>
                  <a:cubicBezTo>
                    <a:pt x="5210048" y="57785"/>
                    <a:pt x="5210428" y="61976"/>
                    <a:pt x="5210428" y="66421"/>
                  </a:cubicBezTo>
                  <a:lnTo>
                    <a:pt x="5205603" y="66421"/>
                  </a:lnTo>
                  <a:lnTo>
                    <a:pt x="5210428" y="66421"/>
                  </a:lnTo>
                  <a:lnTo>
                    <a:pt x="5210428" y="1505585"/>
                  </a:lnTo>
                  <a:lnTo>
                    <a:pt x="5205603" y="1505585"/>
                  </a:lnTo>
                  <a:lnTo>
                    <a:pt x="5210428" y="1505585"/>
                  </a:lnTo>
                  <a:cubicBezTo>
                    <a:pt x="5210428" y="1509903"/>
                    <a:pt x="5210048" y="1514221"/>
                    <a:pt x="5209159" y="1518539"/>
                  </a:cubicBezTo>
                  <a:lnTo>
                    <a:pt x="5204460" y="1517650"/>
                  </a:lnTo>
                  <a:lnTo>
                    <a:pt x="5209159" y="1518539"/>
                  </a:lnTo>
                  <a:cubicBezTo>
                    <a:pt x="5208270" y="1522857"/>
                    <a:pt x="5207000" y="1526921"/>
                    <a:pt x="5205349" y="1530985"/>
                  </a:cubicBezTo>
                  <a:lnTo>
                    <a:pt x="5200903" y="1529207"/>
                  </a:lnTo>
                  <a:lnTo>
                    <a:pt x="5205349" y="1530985"/>
                  </a:lnTo>
                  <a:cubicBezTo>
                    <a:pt x="5203698" y="1535049"/>
                    <a:pt x="5201666" y="1538859"/>
                    <a:pt x="5199253" y="1542415"/>
                  </a:cubicBezTo>
                  <a:lnTo>
                    <a:pt x="5195316" y="1539748"/>
                  </a:lnTo>
                  <a:lnTo>
                    <a:pt x="5199253" y="1542415"/>
                  </a:lnTo>
                  <a:cubicBezTo>
                    <a:pt x="5196840" y="1545971"/>
                    <a:pt x="5194046" y="1549400"/>
                    <a:pt x="5190998" y="1552448"/>
                  </a:cubicBezTo>
                  <a:lnTo>
                    <a:pt x="5187569" y="1549019"/>
                  </a:lnTo>
                  <a:lnTo>
                    <a:pt x="5190998" y="1552448"/>
                  </a:lnTo>
                  <a:cubicBezTo>
                    <a:pt x="5187950" y="1555496"/>
                    <a:pt x="5184521" y="1558290"/>
                    <a:pt x="5180965" y="1560703"/>
                  </a:cubicBezTo>
                  <a:lnTo>
                    <a:pt x="5178298" y="1556766"/>
                  </a:lnTo>
                  <a:lnTo>
                    <a:pt x="5180965" y="1560703"/>
                  </a:lnTo>
                  <a:cubicBezTo>
                    <a:pt x="5177409" y="1563116"/>
                    <a:pt x="5173599" y="1565148"/>
                    <a:pt x="5169535" y="1566799"/>
                  </a:cubicBezTo>
                  <a:lnTo>
                    <a:pt x="5167757" y="1562354"/>
                  </a:lnTo>
                  <a:lnTo>
                    <a:pt x="5169535" y="1566799"/>
                  </a:lnTo>
                  <a:cubicBezTo>
                    <a:pt x="5165471" y="1568450"/>
                    <a:pt x="5161407" y="1569720"/>
                    <a:pt x="5157089" y="1570609"/>
                  </a:cubicBezTo>
                  <a:lnTo>
                    <a:pt x="5156200" y="1565910"/>
                  </a:lnTo>
                  <a:lnTo>
                    <a:pt x="5157089" y="1570609"/>
                  </a:lnTo>
                  <a:cubicBezTo>
                    <a:pt x="5152771" y="1571498"/>
                    <a:pt x="5148579" y="1571879"/>
                    <a:pt x="5144135" y="1571879"/>
                  </a:cubicBezTo>
                  <a:lnTo>
                    <a:pt x="66294" y="1571879"/>
                  </a:lnTo>
                  <a:cubicBezTo>
                    <a:pt x="61976" y="1571879"/>
                    <a:pt x="57658" y="1571498"/>
                    <a:pt x="53340" y="1570609"/>
                  </a:cubicBezTo>
                  <a:cubicBezTo>
                    <a:pt x="49022" y="1569720"/>
                    <a:pt x="44958" y="1568450"/>
                    <a:pt x="40894" y="1566799"/>
                  </a:cubicBezTo>
                  <a:lnTo>
                    <a:pt x="42672" y="1562354"/>
                  </a:lnTo>
                  <a:lnTo>
                    <a:pt x="40894" y="1566799"/>
                  </a:lnTo>
                  <a:cubicBezTo>
                    <a:pt x="36830" y="1565148"/>
                    <a:pt x="33020" y="1563116"/>
                    <a:pt x="29464" y="1560703"/>
                  </a:cubicBezTo>
                  <a:lnTo>
                    <a:pt x="32131" y="1556766"/>
                  </a:lnTo>
                  <a:lnTo>
                    <a:pt x="29464" y="1560703"/>
                  </a:lnTo>
                  <a:cubicBezTo>
                    <a:pt x="25908" y="1558290"/>
                    <a:pt x="22479" y="1555496"/>
                    <a:pt x="19431" y="1552448"/>
                  </a:cubicBezTo>
                  <a:cubicBezTo>
                    <a:pt x="16383" y="1549400"/>
                    <a:pt x="13589" y="1545971"/>
                    <a:pt x="11176" y="1542415"/>
                  </a:cubicBezTo>
                  <a:cubicBezTo>
                    <a:pt x="8763" y="1538859"/>
                    <a:pt x="6731" y="1535049"/>
                    <a:pt x="5080" y="1530985"/>
                  </a:cubicBezTo>
                  <a:lnTo>
                    <a:pt x="9525" y="1529207"/>
                  </a:lnTo>
                  <a:lnTo>
                    <a:pt x="5080" y="1530985"/>
                  </a:lnTo>
                  <a:cubicBezTo>
                    <a:pt x="3429" y="1526921"/>
                    <a:pt x="2159" y="1522857"/>
                    <a:pt x="1270" y="1518539"/>
                  </a:cubicBezTo>
                  <a:lnTo>
                    <a:pt x="5969" y="1517650"/>
                  </a:lnTo>
                  <a:lnTo>
                    <a:pt x="1270" y="1518539"/>
                  </a:lnTo>
                  <a:cubicBezTo>
                    <a:pt x="381" y="1514221"/>
                    <a:pt x="0" y="1510030"/>
                    <a:pt x="0" y="1505585"/>
                  </a:cubicBezTo>
                  <a:lnTo>
                    <a:pt x="4826" y="1505585"/>
                  </a:lnTo>
                  <a:lnTo>
                    <a:pt x="0" y="1505585"/>
                  </a:lnTo>
                  <a:moveTo>
                    <a:pt x="9525" y="1505585"/>
                  </a:moveTo>
                  <a:cubicBezTo>
                    <a:pt x="9525" y="1509268"/>
                    <a:pt x="9906" y="1512951"/>
                    <a:pt x="10668" y="1516634"/>
                  </a:cubicBezTo>
                  <a:cubicBezTo>
                    <a:pt x="11430" y="1520317"/>
                    <a:pt x="12446" y="1523873"/>
                    <a:pt x="13843" y="1527302"/>
                  </a:cubicBezTo>
                  <a:cubicBezTo>
                    <a:pt x="15240" y="1530731"/>
                    <a:pt x="17018" y="1534033"/>
                    <a:pt x="19050" y="1537081"/>
                  </a:cubicBezTo>
                  <a:lnTo>
                    <a:pt x="15113" y="1539748"/>
                  </a:lnTo>
                  <a:lnTo>
                    <a:pt x="19050" y="1537081"/>
                  </a:lnTo>
                  <a:cubicBezTo>
                    <a:pt x="21082" y="1540129"/>
                    <a:pt x="23495" y="1543050"/>
                    <a:pt x="26035" y="1545717"/>
                  </a:cubicBezTo>
                  <a:lnTo>
                    <a:pt x="22606" y="1549146"/>
                  </a:lnTo>
                  <a:lnTo>
                    <a:pt x="26035" y="1545717"/>
                  </a:lnTo>
                  <a:cubicBezTo>
                    <a:pt x="28702" y="1548384"/>
                    <a:pt x="31496" y="1550670"/>
                    <a:pt x="34671" y="1552702"/>
                  </a:cubicBezTo>
                  <a:cubicBezTo>
                    <a:pt x="37719" y="1554734"/>
                    <a:pt x="41021" y="1556512"/>
                    <a:pt x="44450" y="1557909"/>
                  </a:cubicBezTo>
                  <a:cubicBezTo>
                    <a:pt x="47879" y="1559306"/>
                    <a:pt x="51435" y="1560449"/>
                    <a:pt x="55118" y="1561084"/>
                  </a:cubicBezTo>
                  <a:lnTo>
                    <a:pt x="54229" y="1565783"/>
                  </a:lnTo>
                  <a:lnTo>
                    <a:pt x="55118" y="1561084"/>
                  </a:lnTo>
                  <a:cubicBezTo>
                    <a:pt x="58801" y="1561846"/>
                    <a:pt x="62484" y="1562227"/>
                    <a:pt x="66167" y="1562227"/>
                  </a:cubicBezTo>
                  <a:lnTo>
                    <a:pt x="66167" y="1566926"/>
                  </a:lnTo>
                  <a:lnTo>
                    <a:pt x="66167" y="1562227"/>
                  </a:lnTo>
                  <a:lnTo>
                    <a:pt x="5144135" y="1562227"/>
                  </a:lnTo>
                  <a:lnTo>
                    <a:pt x="5144135" y="1567053"/>
                  </a:lnTo>
                  <a:lnTo>
                    <a:pt x="5144135" y="1562354"/>
                  </a:lnTo>
                  <a:cubicBezTo>
                    <a:pt x="5147817" y="1562354"/>
                    <a:pt x="5151501" y="1561973"/>
                    <a:pt x="5155184" y="1561211"/>
                  </a:cubicBezTo>
                  <a:cubicBezTo>
                    <a:pt x="5158866" y="1560449"/>
                    <a:pt x="5162423" y="1559433"/>
                    <a:pt x="5165852" y="1558036"/>
                  </a:cubicBezTo>
                  <a:cubicBezTo>
                    <a:pt x="5169280" y="1556639"/>
                    <a:pt x="5172583" y="1554861"/>
                    <a:pt x="5175630" y="1552829"/>
                  </a:cubicBezTo>
                  <a:cubicBezTo>
                    <a:pt x="5178678" y="1550797"/>
                    <a:pt x="5181600" y="1548384"/>
                    <a:pt x="5184266" y="1545844"/>
                  </a:cubicBezTo>
                  <a:cubicBezTo>
                    <a:pt x="5186934" y="1543304"/>
                    <a:pt x="5189220" y="1540383"/>
                    <a:pt x="5191252" y="1537208"/>
                  </a:cubicBezTo>
                  <a:cubicBezTo>
                    <a:pt x="5193284" y="1534033"/>
                    <a:pt x="5195062" y="1530858"/>
                    <a:pt x="5196459" y="1527429"/>
                  </a:cubicBezTo>
                  <a:cubicBezTo>
                    <a:pt x="5197855" y="1524000"/>
                    <a:pt x="5198999" y="1520444"/>
                    <a:pt x="5199634" y="1516761"/>
                  </a:cubicBezTo>
                  <a:cubicBezTo>
                    <a:pt x="5200396" y="1513078"/>
                    <a:pt x="5200777" y="1509395"/>
                    <a:pt x="5200777" y="1505712"/>
                  </a:cubicBezTo>
                  <a:lnTo>
                    <a:pt x="5200777" y="66294"/>
                  </a:lnTo>
                  <a:cubicBezTo>
                    <a:pt x="5200777" y="62611"/>
                    <a:pt x="5200396" y="58928"/>
                    <a:pt x="5199634" y="55245"/>
                  </a:cubicBezTo>
                  <a:cubicBezTo>
                    <a:pt x="5198872" y="51562"/>
                    <a:pt x="5197855" y="48006"/>
                    <a:pt x="5196459" y="44577"/>
                  </a:cubicBezTo>
                  <a:cubicBezTo>
                    <a:pt x="5195062" y="41148"/>
                    <a:pt x="5193284" y="37846"/>
                    <a:pt x="5191252" y="34798"/>
                  </a:cubicBezTo>
                  <a:cubicBezTo>
                    <a:pt x="5189220" y="31750"/>
                    <a:pt x="5186807" y="28829"/>
                    <a:pt x="5184266" y="26162"/>
                  </a:cubicBezTo>
                  <a:cubicBezTo>
                    <a:pt x="5181727" y="23495"/>
                    <a:pt x="5178805" y="21209"/>
                    <a:pt x="5175630" y="19177"/>
                  </a:cubicBezTo>
                  <a:lnTo>
                    <a:pt x="5178298" y="15240"/>
                  </a:lnTo>
                  <a:lnTo>
                    <a:pt x="5175630" y="19177"/>
                  </a:lnTo>
                  <a:cubicBezTo>
                    <a:pt x="5172583" y="17145"/>
                    <a:pt x="5169280" y="15367"/>
                    <a:pt x="5165852" y="13970"/>
                  </a:cubicBezTo>
                  <a:cubicBezTo>
                    <a:pt x="5162423" y="12573"/>
                    <a:pt x="5158866" y="11430"/>
                    <a:pt x="5155184" y="10795"/>
                  </a:cubicBezTo>
                  <a:cubicBezTo>
                    <a:pt x="5151501" y="10160"/>
                    <a:pt x="5147817" y="9652"/>
                    <a:pt x="5144135" y="9652"/>
                  </a:cubicBezTo>
                  <a:lnTo>
                    <a:pt x="66294" y="9652"/>
                  </a:lnTo>
                  <a:cubicBezTo>
                    <a:pt x="62611" y="9652"/>
                    <a:pt x="58928" y="10033"/>
                    <a:pt x="55245" y="10795"/>
                  </a:cubicBezTo>
                  <a:lnTo>
                    <a:pt x="54356" y="6096"/>
                  </a:lnTo>
                  <a:lnTo>
                    <a:pt x="55245" y="10795"/>
                  </a:lnTo>
                  <a:cubicBezTo>
                    <a:pt x="51562" y="11557"/>
                    <a:pt x="48006" y="12573"/>
                    <a:pt x="44577" y="13970"/>
                  </a:cubicBezTo>
                  <a:cubicBezTo>
                    <a:pt x="41148" y="15367"/>
                    <a:pt x="37846" y="17145"/>
                    <a:pt x="34798" y="19177"/>
                  </a:cubicBezTo>
                  <a:lnTo>
                    <a:pt x="32131" y="15240"/>
                  </a:lnTo>
                  <a:lnTo>
                    <a:pt x="34798" y="19177"/>
                  </a:lnTo>
                  <a:cubicBezTo>
                    <a:pt x="31750" y="21209"/>
                    <a:pt x="28829" y="23622"/>
                    <a:pt x="26162" y="26162"/>
                  </a:cubicBezTo>
                  <a:lnTo>
                    <a:pt x="22733" y="22733"/>
                  </a:lnTo>
                  <a:lnTo>
                    <a:pt x="26162" y="26162"/>
                  </a:lnTo>
                  <a:cubicBezTo>
                    <a:pt x="23495" y="28829"/>
                    <a:pt x="21209" y="31623"/>
                    <a:pt x="19177" y="34798"/>
                  </a:cubicBezTo>
                  <a:lnTo>
                    <a:pt x="15240" y="32131"/>
                  </a:lnTo>
                  <a:lnTo>
                    <a:pt x="19177" y="34798"/>
                  </a:lnTo>
                  <a:cubicBezTo>
                    <a:pt x="17145" y="37846"/>
                    <a:pt x="15367" y="41148"/>
                    <a:pt x="13970" y="44577"/>
                  </a:cubicBezTo>
                  <a:cubicBezTo>
                    <a:pt x="12573" y="48006"/>
                    <a:pt x="11430" y="51562"/>
                    <a:pt x="10795" y="55245"/>
                  </a:cubicBezTo>
                  <a:cubicBezTo>
                    <a:pt x="10033" y="58928"/>
                    <a:pt x="9652" y="62611"/>
                    <a:pt x="9652" y="66294"/>
                  </a:cubicBezTo>
                  <a:lnTo>
                    <a:pt x="9652" y="150558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8683625" y="3044825"/>
              <a:ext cx="9525" cy="1552575"/>
            </a:xfrm>
            <a:custGeom>
              <a:avLst/>
              <a:gdLst/>
              <a:ahLst/>
              <a:cxnLst/>
              <a:rect l="l" t="t" r="r" b="b"/>
              <a:pathLst>
                <a:path w="9525" h="1552575">
                  <a:moveTo>
                    <a:pt x="0" y="0"/>
                  </a:moveTo>
                  <a:lnTo>
                    <a:pt x="9525" y="0"/>
                  </a:lnTo>
                  <a:lnTo>
                    <a:pt x="9525" y="1552575"/>
                  </a:lnTo>
                  <a:lnTo>
                    <a:pt x="0" y="1552575"/>
                  </a:lnTo>
                  <a:close/>
                </a:path>
              </a:pathLst>
            </a:custGeom>
            <a:solidFill>
              <a:srgbClr val="56546B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9312275" y="3044825"/>
              <a:ext cx="9525" cy="1552575"/>
            </a:xfrm>
            <a:custGeom>
              <a:avLst/>
              <a:gdLst/>
              <a:ahLst/>
              <a:cxnLst/>
              <a:rect l="l" t="t" r="r" b="b"/>
              <a:pathLst>
                <a:path w="9525" h="1552575">
                  <a:moveTo>
                    <a:pt x="0" y="0"/>
                  </a:moveTo>
                  <a:lnTo>
                    <a:pt x="9525" y="0"/>
                  </a:lnTo>
                  <a:lnTo>
                    <a:pt x="9525" y="1552575"/>
                  </a:lnTo>
                  <a:lnTo>
                    <a:pt x="0" y="1552575"/>
                  </a:lnTo>
                  <a:close/>
                </a:path>
              </a:pathLst>
            </a:custGeom>
            <a:solidFill>
              <a:srgbClr val="56546B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860374" y="2994927"/>
            <a:ext cx="679733" cy="136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4"/>
              </a:lnSpc>
            </a:pPr>
            <a:r>
              <a:rPr lang="en-US" sz="1190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USERS </a:t>
            </a: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user_id username city_id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50394" y="3422152"/>
            <a:ext cx="231000" cy="467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JOI 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71134" y="4736602"/>
            <a:ext cx="1820304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users.city_id = cities.city_id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68481" y="2994927"/>
            <a:ext cx="690191" cy="100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190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CITIES </a:t>
            </a: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city_id city_name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1540" y="5365252"/>
            <a:ext cx="4403169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JOINs combine related tables to create richer analytical datasets.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4893" y="2994927"/>
            <a:ext cx="857774" cy="136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190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RIDES </a:t>
            </a: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ride_id distance_km payment_id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24912" y="3422152"/>
            <a:ext cx="231000" cy="467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JOI 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65831" y="4736602"/>
            <a:ext cx="2799036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rides.payment_id = payments.payment_id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42999" y="2994927"/>
            <a:ext cx="1049588" cy="136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74"/>
              </a:lnSpc>
            </a:pPr>
            <a:r>
              <a:rPr lang="en-US" sz="1190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PAYMENTS </a:t>
            </a: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payment_id payment_mode amount_usd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4944" y="536077"/>
            <a:ext cx="1974447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03 | DATABASE OPERATIONS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1540" y="930116"/>
            <a:ext cx="9927831" cy="6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9"/>
              </a:lnSpc>
            </a:pPr>
            <a:r>
              <a:rPr lang="en-US" sz="372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Connecting the Database Through JOINs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327" y="1744008"/>
            <a:ext cx="47158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1540" y="1744008"/>
            <a:ext cx="8704107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Two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compact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relational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diagrams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show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how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JOINs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connect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related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tables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and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produce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richer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datasets.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1540" y="2460584"/>
            <a:ext cx="1777975" cy="33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User–City JOIN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36059" y="2460584"/>
            <a:ext cx="2424589" cy="33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Ride–Payment JOIN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88046" y="3080737"/>
            <a:ext cx="154181" cy="206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</a:pPr>
            <a:r>
              <a:rPr lang="en-US" sz="1190">
                <a:solidFill>
                  <a:srgbClr val="DCD7E5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62565" y="3080737"/>
            <a:ext cx="154181" cy="206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6"/>
              </a:lnSpc>
            </a:pPr>
            <a:r>
              <a:rPr lang="en-US" sz="1190">
                <a:solidFill>
                  <a:srgbClr val="DCD7E5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3503" y="-63503"/>
            <a:ext cx="12318997" cy="6984997"/>
          </a:xfrm>
          <a:custGeom>
            <a:avLst/>
            <a:gdLst/>
            <a:ahLst/>
            <a:cxnLst/>
            <a:rect l="l" t="t" r="r" b="b"/>
            <a:pathLst>
              <a:path w="12318997" h="6984997">
                <a:moveTo>
                  <a:pt x="0" y="0"/>
                </a:moveTo>
                <a:lnTo>
                  <a:pt x="12318997" y="0"/>
                </a:lnTo>
                <a:lnTo>
                  <a:pt x="12318997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8648" y="3384461"/>
            <a:ext cx="647538" cy="198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16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Raw value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7801" y="536486"/>
            <a:ext cx="1906067" cy="198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16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04 | DATA TRANSFORMATION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1567" y="3384461"/>
            <a:ext cx="1060056" cy="198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16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Conditional logic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84496" y="3384461"/>
            <a:ext cx="573014" cy="198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16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Category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1540" y="542773"/>
            <a:ext cx="5521671" cy="1376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20"/>
              </a:lnSpc>
            </a:pPr>
            <a:r>
              <a:rPr lang="en-US" sz="3488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Transforming Data with </a:t>
            </a:r>
          </a:p>
          <a:p>
            <a:pPr algn="l">
              <a:lnSpc>
                <a:spcPts val="3487"/>
              </a:lnSpc>
            </a:pPr>
            <a:r>
              <a:rPr lang="en-US" sz="139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CASE WHEN transforms numerical values into meaningful categories.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27096" y="801376"/>
            <a:ext cx="2527830" cy="606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3"/>
              </a:lnSpc>
            </a:pPr>
            <a:r>
              <a:rPr lang="en-US" sz="3488">
                <a:solidFill>
                  <a:srgbClr val="DCD7E5"/>
                </a:solidFill>
                <a:latin typeface="Open Sans"/>
                <a:ea typeface="Open Sans"/>
                <a:cs typeface="Open Sans"/>
                <a:sym typeface="Open Sans"/>
              </a:rPr>
              <a:t>CASE WHEN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24855" y="2352627"/>
            <a:ext cx="97850" cy="35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09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20400" y="2352627"/>
            <a:ext cx="153962" cy="35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09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43767" y="2352627"/>
            <a:ext cx="152876" cy="35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09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8648" y="3043199"/>
            <a:ext cx="1402528" cy="30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TOTAL FARE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61567" y="3043199"/>
            <a:ext cx="1433246" cy="30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CASE WHEN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84496" y="3043199"/>
            <a:ext cx="2561549" cy="30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3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LOW | MEDIUM | HIGH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4071" y="4132497"/>
            <a:ext cx="2160508" cy="562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5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SELECT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ride_id, total_fare, </a:t>
            </a:r>
            <a:r>
              <a:rPr lang="en-US" sz="1395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CASE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0077" y="4703997"/>
            <a:ext cx="4779759" cy="83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WHEN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total_fare </a:t>
            </a:r>
            <a:r>
              <a:rPr lang="en-US" sz="1395">
                <a:solidFill>
                  <a:srgbClr val="79C0FF"/>
                </a:solidFill>
                <a:latin typeface="Open Sans"/>
                <a:ea typeface="Open Sans"/>
                <a:cs typeface="Open Sans"/>
                <a:sym typeface="Open Sans"/>
              </a:rPr>
              <a:t>&lt;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79C0FF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THEN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A5D6FF"/>
                </a:solidFill>
                <a:latin typeface="Open Sans"/>
                <a:ea typeface="Open Sans"/>
                <a:cs typeface="Open Sans"/>
                <a:sym typeface="Open Sans"/>
              </a:rPr>
              <a:t>'Low'</a:t>
            </a:r>
          </a:p>
          <a:p>
            <a:pPr algn="l">
              <a:lnSpc>
                <a:spcPts val="2225"/>
              </a:lnSpc>
            </a:pP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WHEN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total_fare </a:t>
            </a:r>
            <a:r>
              <a:rPr lang="en-US" sz="1395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BETWEEN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79C0FF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79C0FF"/>
                </a:solidFill>
                <a:latin typeface="Open Sans"/>
                <a:ea typeface="Open Sans"/>
                <a:cs typeface="Open Sans"/>
                <a:sym typeface="Open Sans"/>
              </a:rPr>
              <a:t>300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THEN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A5D6FF"/>
                </a:solidFill>
                <a:latin typeface="Open Sans"/>
                <a:ea typeface="Open Sans"/>
                <a:cs typeface="Open Sans"/>
                <a:sym typeface="Open Sans"/>
              </a:rPr>
              <a:t>'Medium' 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ELSE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A5D6FF"/>
                </a:solidFill>
                <a:latin typeface="Open Sans"/>
                <a:ea typeface="Open Sans"/>
                <a:cs typeface="Open Sans"/>
                <a:sym typeface="Open Sans"/>
              </a:rPr>
              <a:t>'High'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4071" y="5551722"/>
            <a:ext cx="1814189" cy="562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5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END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95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AS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fare_category </a:t>
            </a:r>
            <a:r>
              <a:rPr lang="en-US" sz="1395">
                <a:solidFill>
                  <a:srgbClr val="FF7B72"/>
                </a:solidFill>
                <a:latin typeface="Open Sans"/>
                <a:ea typeface="Open Sans"/>
                <a:cs typeface="Open Sans"/>
                <a:sym typeface="Open Sans"/>
              </a:rPr>
              <a:t>FROM</a:t>
            </a:r>
            <a:r>
              <a:rPr lang="en-US" sz="1395">
                <a:solidFill>
                  <a:srgbClr val="E6EDF3"/>
                </a:solidFill>
                <a:latin typeface="Open Sans"/>
                <a:ea typeface="Open Sans"/>
                <a:cs typeface="Open Sans"/>
                <a:sym typeface="Open Sans"/>
              </a:rPr>
              <a:t> rides;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" y="0"/>
            <a:ext cx="12193524" cy="6858000"/>
          </a:xfrm>
          <a:custGeom>
            <a:avLst/>
            <a:gdLst/>
            <a:ahLst/>
            <a:cxnLst/>
            <a:rect l="l" t="t" r="r" b="b"/>
            <a:pathLst>
              <a:path w="12193524" h="6858000">
                <a:moveTo>
                  <a:pt x="0" y="0"/>
                </a:moveTo>
                <a:lnTo>
                  <a:pt x="12193524" y="0"/>
                </a:lnTo>
                <a:lnTo>
                  <a:pt x="1219352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10" y="4572"/>
            <a:ext cx="12184380" cy="6848856"/>
            <a:chOff x="0" y="0"/>
            <a:chExt cx="16245840" cy="9131808"/>
          </a:xfrm>
        </p:grpSpPr>
        <p:sp>
          <p:nvSpPr>
            <p:cNvPr id="4" name="Freeform 4"/>
            <p:cNvSpPr/>
            <p:nvPr/>
          </p:nvSpPr>
          <p:spPr>
            <a:xfrm>
              <a:off x="1270" y="254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-2" r="-7" b="-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762" y="0"/>
            <a:ext cx="12193524" cy="6858000"/>
          </a:xfrm>
          <a:custGeom>
            <a:avLst/>
            <a:gdLst/>
            <a:ahLst/>
            <a:cxnLst/>
            <a:rect l="l" t="t" r="r" b="b"/>
            <a:pathLst>
              <a:path w="12193524" h="6858000">
                <a:moveTo>
                  <a:pt x="0" y="0"/>
                </a:moveTo>
                <a:lnTo>
                  <a:pt x="12193524" y="0"/>
                </a:lnTo>
                <a:lnTo>
                  <a:pt x="1219352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126" y="1531430"/>
            <a:ext cx="3127248" cy="2071116"/>
          </a:xfrm>
          <a:custGeom>
            <a:avLst/>
            <a:gdLst/>
            <a:ahLst/>
            <a:cxnLst/>
            <a:rect l="l" t="t" r="r" b="b"/>
            <a:pathLst>
              <a:path w="3127248" h="2071116">
                <a:moveTo>
                  <a:pt x="0" y="0"/>
                </a:moveTo>
                <a:lnTo>
                  <a:pt x="3127248" y="0"/>
                </a:lnTo>
                <a:lnTo>
                  <a:pt x="3127248" y="2071115"/>
                </a:lnTo>
                <a:lnTo>
                  <a:pt x="0" y="2071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27735" y="2642426"/>
            <a:ext cx="1497330" cy="306324"/>
          </a:xfrm>
          <a:custGeom>
            <a:avLst/>
            <a:gdLst/>
            <a:ahLst/>
            <a:cxnLst/>
            <a:rect l="l" t="t" r="r" b="b"/>
            <a:pathLst>
              <a:path w="1497330" h="306324">
                <a:moveTo>
                  <a:pt x="0" y="0"/>
                </a:moveTo>
                <a:lnTo>
                  <a:pt x="1497330" y="0"/>
                </a:lnTo>
                <a:lnTo>
                  <a:pt x="1497330" y="306324"/>
                </a:lnTo>
                <a:lnTo>
                  <a:pt x="0" y="306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150995" y="1531430"/>
            <a:ext cx="3909060" cy="1156716"/>
          </a:xfrm>
          <a:custGeom>
            <a:avLst/>
            <a:gdLst/>
            <a:ahLst/>
            <a:cxnLst/>
            <a:rect l="l" t="t" r="r" b="b"/>
            <a:pathLst>
              <a:path w="3909060" h="1156716">
                <a:moveTo>
                  <a:pt x="0" y="0"/>
                </a:moveTo>
                <a:lnTo>
                  <a:pt x="3909060" y="0"/>
                </a:lnTo>
                <a:lnTo>
                  <a:pt x="3909060" y="1156716"/>
                </a:lnTo>
                <a:lnTo>
                  <a:pt x="0" y="1156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200239" y="1580578"/>
            <a:ext cx="729234" cy="1058418"/>
            <a:chOff x="0" y="0"/>
            <a:chExt cx="972312" cy="14112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2312" cy="1411224"/>
            </a:xfrm>
            <a:custGeom>
              <a:avLst/>
              <a:gdLst/>
              <a:ahLst/>
              <a:cxnLst/>
              <a:rect l="l" t="t" r="r" b="b"/>
              <a:pathLst>
                <a:path w="972312" h="1411224">
                  <a:moveTo>
                    <a:pt x="0" y="0"/>
                  </a:moveTo>
                  <a:lnTo>
                    <a:pt x="972312" y="0"/>
                  </a:lnTo>
                  <a:lnTo>
                    <a:pt x="972312" y="1411224"/>
                  </a:lnTo>
                  <a:lnTo>
                    <a:pt x="0" y="1411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13" r="-64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4923472" y="1580578"/>
            <a:ext cx="11430" cy="1058418"/>
            <a:chOff x="0" y="0"/>
            <a:chExt cx="15240" cy="14112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0" cy="1411224"/>
            </a:xfrm>
            <a:custGeom>
              <a:avLst/>
              <a:gdLst/>
              <a:ahLst/>
              <a:cxnLst/>
              <a:rect l="l" t="t" r="r" b="b"/>
              <a:pathLst>
                <a:path w="15240" h="1411224">
                  <a:moveTo>
                    <a:pt x="0" y="0"/>
                  </a:moveTo>
                  <a:lnTo>
                    <a:pt x="15240" y="0"/>
                  </a:lnTo>
                  <a:lnTo>
                    <a:pt x="15240" y="1411224"/>
                  </a:lnTo>
                  <a:lnTo>
                    <a:pt x="0" y="1411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8456676" y="1531430"/>
            <a:ext cx="3127248" cy="2071116"/>
          </a:xfrm>
          <a:custGeom>
            <a:avLst/>
            <a:gdLst/>
            <a:ahLst/>
            <a:cxnLst/>
            <a:rect l="l" t="t" r="r" b="b"/>
            <a:pathLst>
              <a:path w="3127248" h="2071116">
                <a:moveTo>
                  <a:pt x="0" y="0"/>
                </a:moveTo>
                <a:lnTo>
                  <a:pt x="3127248" y="0"/>
                </a:lnTo>
                <a:lnTo>
                  <a:pt x="3127248" y="2071115"/>
                </a:lnTo>
                <a:lnTo>
                  <a:pt x="0" y="2071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747950" y="2642426"/>
            <a:ext cx="1506474" cy="306324"/>
          </a:xfrm>
          <a:custGeom>
            <a:avLst/>
            <a:gdLst/>
            <a:ahLst/>
            <a:cxnLst/>
            <a:rect l="l" t="t" r="r" b="b"/>
            <a:pathLst>
              <a:path w="1506474" h="306324">
                <a:moveTo>
                  <a:pt x="0" y="0"/>
                </a:moveTo>
                <a:lnTo>
                  <a:pt x="1506474" y="0"/>
                </a:lnTo>
                <a:lnTo>
                  <a:pt x="1506474" y="306324"/>
                </a:lnTo>
                <a:lnTo>
                  <a:pt x="0" y="306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26745" y="3941445"/>
            <a:ext cx="10938510" cy="2423160"/>
          </a:xfrm>
          <a:custGeom>
            <a:avLst/>
            <a:gdLst/>
            <a:ahLst/>
            <a:cxnLst/>
            <a:rect l="l" t="t" r="r" b="b"/>
            <a:pathLst>
              <a:path w="10938510" h="2423160">
                <a:moveTo>
                  <a:pt x="0" y="0"/>
                </a:moveTo>
                <a:lnTo>
                  <a:pt x="10938510" y="0"/>
                </a:lnTo>
                <a:lnTo>
                  <a:pt x="10938510" y="2423160"/>
                </a:lnTo>
                <a:lnTo>
                  <a:pt x="0" y="2423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51535" y="4976050"/>
            <a:ext cx="1497330" cy="306324"/>
          </a:xfrm>
          <a:custGeom>
            <a:avLst/>
            <a:gdLst/>
            <a:ahLst/>
            <a:cxnLst/>
            <a:rect l="l" t="t" r="r" b="b"/>
            <a:pathLst>
              <a:path w="1497330" h="306324">
                <a:moveTo>
                  <a:pt x="0" y="0"/>
                </a:moveTo>
                <a:lnTo>
                  <a:pt x="1497330" y="0"/>
                </a:lnTo>
                <a:lnTo>
                  <a:pt x="1497330" y="306324"/>
                </a:lnTo>
                <a:lnTo>
                  <a:pt x="0" y="306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56463" y="1561148"/>
            <a:ext cx="77724" cy="2011680"/>
          </a:xfrm>
          <a:custGeom>
            <a:avLst/>
            <a:gdLst/>
            <a:ahLst/>
            <a:cxnLst/>
            <a:rect l="l" t="t" r="r" b="b"/>
            <a:pathLst>
              <a:path w="77724" h="2011680">
                <a:moveTo>
                  <a:pt x="0" y="0"/>
                </a:moveTo>
                <a:lnTo>
                  <a:pt x="77724" y="0"/>
                </a:lnTo>
                <a:lnTo>
                  <a:pt x="77724" y="2011680"/>
                </a:lnTo>
                <a:lnTo>
                  <a:pt x="0" y="2011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486013" y="1561148"/>
            <a:ext cx="77724" cy="2011680"/>
          </a:xfrm>
          <a:custGeom>
            <a:avLst/>
            <a:gdLst/>
            <a:ahLst/>
            <a:cxnLst/>
            <a:rect l="l" t="t" r="r" b="b"/>
            <a:pathLst>
              <a:path w="77724" h="2011680">
                <a:moveTo>
                  <a:pt x="0" y="0"/>
                </a:moveTo>
                <a:lnTo>
                  <a:pt x="77724" y="0"/>
                </a:lnTo>
                <a:lnTo>
                  <a:pt x="77724" y="2011680"/>
                </a:lnTo>
                <a:lnTo>
                  <a:pt x="0" y="2011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61540" y="560232"/>
            <a:ext cx="7447836" cy="618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Benchmarking with Subqueries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9851" y="1770774"/>
            <a:ext cx="2216839" cy="67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Users</a:t>
            </a:r>
          </a:p>
          <a:p>
            <a:pPr algn="l">
              <a:lnSpc>
                <a:spcPts val="1613"/>
              </a:lnSpc>
            </a:pPr>
            <a:r>
              <a:rPr lang="en-US" sz="1152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Above-Average Completed Rides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3651" y="4180599"/>
            <a:ext cx="2010851" cy="5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Completed Rides</a:t>
            </a:r>
          </a:p>
          <a:p>
            <a:pPr algn="l">
              <a:lnSpc>
                <a:spcPts val="1613"/>
              </a:lnSpc>
            </a:pPr>
            <a:r>
              <a:rPr lang="en-US" sz="1152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Above-Average Fare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07486" y="1770774"/>
            <a:ext cx="2322824" cy="664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OVERALL AVERAGE</a:t>
            </a:r>
          </a:p>
          <a:p>
            <a:pPr algn="l">
              <a:lnSpc>
                <a:spcPts val="1613"/>
              </a:lnSpc>
            </a:pPr>
            <a:r>
              <a:rPr lang="en-US" sz="1152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Benchmark Reference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66572" y="1770774"/>
            <a:ext cx="1506360" cy="67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Drivers</a:t>
            </a:r>
          </a:p>
          <a:p>
            <a:pPr algn="l">
              <a:lnSpc>
                <a:spcPts val="1613"/>
              </a:lnSpc>
            </a:pPr>
            <a:r>
              <a:rPr lang="en-US" sz="1152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Above-Average Rating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9851" y="3112837"/>
            <a:ext cx="855288" cy="21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3"/>
              </a:lnSpc>
            </a:pPr>
            <a:r>
              <a:rPr lang="en-US" sz="1152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Result count: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3484" y="4989262"/>
            <a:ext cx="1274264" cy="21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3"/>
              </a:lnSpc>
            </a:pPr>
            <a:r>
              <a:rPr lang="en-US" sz="1152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SUBQUERY + AVG()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9684" y="2655637"/>
            <a:ext cx="1274264" cy="21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3"/>
              </a:lnSpc>
            </a:pPr>
            <a:r>
              <a:rPr lang="en-US" sz="1152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SUBQUERY + AVG()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66572" y="3112837"/>
            <a:ext cx="855288" cy="21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3"/>
              </a:lnSpc>
            </a:pPr>
            <a:r>
              <a:rPr lang="en-US" sz="1152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Result count: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76405" y="2655637"/>
            <a:ext cx="1274264" cy="21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3"/>
              </a:lnSpc>
            </a:pPr>
            <a:r>
              <a:rPr lang="en-US" sz="1152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SUBQUERY + AVG()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3651" y="5391807"/>
            <a:ext cx="2345141" cy="846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3"/>
              </a:lnSpc>
            </a:pPr>
            <a:r>
              <a:rPr lang="en-US" sz="4973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≈100.67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" y="0"/>
            <a:ext cx="12193524" cy="6858000"/>
          </a:xfrm>
          <a:custGeom>
            <a:avLst/>
            <a:gdLst/>
            <a:ahLst/>
            <a:cxnLst/>
            <a:rect l="l" t="t" r="r" b="b"/>
            <a:pathLst>
              <a:path w="12193524" h="6858000">
                <a:moveTo>
                  <a:pt x="0" y="0"/>
                </a:moveTo>
                <a:lnTo>
                  <a:pt x="12193524" y="0"/>
                </a:lnTo>
                <a:lnTo>
                  <a:pt x="1219352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10" y="4572"/>
            <a:ext cx="12184380" cy="6848856"/>
            <a:chOff x="0" y="0"/>
            <a:chExt cx="16245840" cy="9131808"/>
          </a:xfrm>
        </p:grpSpPr>
        <p:sp>
          <p:nvSpPr>
            <p:cNvPr id="4" name="Freeform 4"/>
            <p:cNvSpPr/>
            <p:nvPr/>
          </p:nvSpPr>
          <p:spPr>
            <a:xfrm>
              <a:off x="1270" y="254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-2" r="-7" b="-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762" y="0"/>
            <a:ext cx="12193524" cy="6858000"/>
          </a:xfrm>
          <a:custGeom>
            <a:avLst/>
            <a:gdLst/>
            <a:ahLst/>
            <a:cxnLst/>
            <a:rect l="l" t="t" r="r" b="b"/>
            <a:pathLst>
              <a:path w="12193524" h="6858000">
                <a:moveTo>
                  <a:pt x="0" y="0"/>
                </a:moveTo>
                <a:lnTo>
                  <a:pt x="12193524" y="0"/>
                </a:lnTo>
                <a:lnTo>
                  <a:pt x="1219352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7034" y="847725"/>
            <a:ext cx="1591056" cy="285750"/>
          </a:xfrm>
          <a:custGeom>
            <a:avLst/>
            <a:gdLst/>
            <a:ahLst/>
            <a:cxnLst/>
            <a:rect l="l" t="t" r="r" b="b"/>
            <a:pathLst>
              <a:path w="1591056" h="285750">
                <a:moveTo>
                  <a:pt x="0" y="0"/>
                </a:moveTo>
                <a:lnTo>
                  <a:pt x="1591056" y="0"/>
                </a:lnTo>
                <a:lnTo>
                  <a:pt x="1591056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6935" y="2779395"/>
            <a:ext cx="3346704" cy="2594610"/>
          </a:xfrm>
          <a:custGeom>
            <a:avLst/>
            <a:gdLst/>
            <a:ahLst/>
            <a:cxnLst/>
            <a:rect l="l" t="t" r="r" b="b"/>
            <a:pathLst>
              <a:path w="3346704" h="2594610">
                <a:moveTo>
                  <a:pt x="0" y="0"/>
                </a:moveTo>
                <a:lnTo>
                  <a:pt x="3346705" y="0"/>
                </a:lnTo>
                <a:lnTo>
                  <a:pt x="3346705" y="2594610"/>
                </a:lnTo>
                <a:lnTo>
                  <a:pt x="0" y="2594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27544" y="4832414"/>
            <a:ext cx="630936" cy="326898"/>
          </a:xfrm>
          <a:custGeom>
            <a:avLst/>
            <a:gdLst/>
            <a:ahLst/>
            <a:cxnLst/>
            <a:rect l="l" t="t" r="r" b="b"/>
            <a:pathLst>
              <a:path w="630936" h="326898">
                <a:moveTo>
                  <a:pt x="0" y="0"/>
                </a:moveTo>
                <a:lnTo>
                  <a:pt x="630936" y="0"/>
                </a:lnTo>
                <a:lnTo>
                  <a:pt x="630936" y="326898"/>
                </a:lnTo>
                <a:lnTo>
                  <a:pt x="0" y="326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379595" y="2779014"/>
            <a:ext cx="3451860" cy="2004822"/>
          </a:xfrm>
          <a:custGeom>
            <a:avLst/>
            <a:gdLst/>
            <a:ahLst/>
            <a:cxnLst/>
            <a:rect l="l" t="t" r="r" b="b"/>
            <a:pathLst>
              <a:path w="3451860" h="2004822">
                <a:moveTo>
                  <a:pt x="0" y="0"/>
                </a:moveTo>
                <a:lnTo>
                  <a:pt x="3451860" y="0"/>
                </a:lnTo>
                <a:lnTo>
                  <a:pt x="3451860" y="2004822"/>
                </a:lnTo>
                <a:lnTo>
                  <a:pt x="0" y="2004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680204" y="4241673"/>
            <a:ext cx="1193292" cy="317754"/>
          </a:xfrm>
          <a:custGeom>
            <a:avLst/>
            <a:gdLst/>
            <a:ahLst/>
            <a:cxnLst/>
            <a:rect l="l" t="t" r="r" b="b"/>
            <a:pathLst>
              <a:path w="1193292" h="317754">
                <a:moveTo>
                  <a:pt x="0" y="0"/>
                </a:moveTo>
                <a:lnTo>
                  <a:pt x="1193292" y="0"/>
                </a:lnTo>
                <a:lnTo>
                  <a:pt x="1193292" y="317754"/>
                </a:lnTo>
                <a:lnTo>
                  <a:pt x="0" y="317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237410" y="2779014"/>
            <a:ext cx="3346704" cy="2004822"/>
          </a:xfrm>
          <a:custGeom>
            <a:avLst/>
            <a:gdLst/>
            <a:ahLst/>
            <a:cxnLst/>
            <a:rect l="l" t="t" r="r" b="b"/>
            <a:pathLst>
              <a:path w="3346704" h="2004822">
                <a:moveTo>
                  <a:pt x="0" y="0"/>
                </a:moveTo>
                <a:lnTo>
                  <a:pt x="3346704" y="0"/>
                </a:lnTo>
                <a:lnTo>
                  <a:pt x="3346704" y="2004822"/>
                </a:lnTo>
                <a:lnTo>
                  <a:pt x="0" y="2004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538210" y="4241673"/>
            <a:ext cx="754380" cy="317754"/>
          </a:xfrm>
          <a:custGeom>
            <a:avLst/>
            <a:gdLst/>
            <a:ahLst/>
            <a:cxnLst/>
            <a:rect l="l" t="t" r="r" b="b"/>
            <a:pathLst>
              <a:path w="754380" h="317754">
                <a:moveTo>
                  <a:pt x="0" y="0"/>
                </a:moveTo>
                <a:lnTo>
                  <a:pt x="754380" y="0"/>
                </a:lnTo>
                <a:lnTo>
                  <a:pt x="754380" y="317754"/>
                </a:lnTo>
                <a:lnTo>
                  <a:pt x="0" y="317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357170" y="4241673"/>
            <a:ext cx="630936" cy="317754"/>
          </a:xfrm>
          <a:custGeom>
            <a:avLst/>
            <a:gdLst/>
            <a:ahLst/>
            <a:cxnLst/>
            <a:rect l="l" t="t" r="r" b="b"/>
            <a:pathLst>
              <a:path w="630936" h="317754">
                <a:moveTo>
                  <a:pt x="0" y="0"/>
                </a:moveTo>
                <a:lnTo>
                  <a:pt x="630935" y="0"/>
                </a:lnTo>
                <a:lnTo>
                  <a:pt x="630935" y="317754"/>
                </a:lnTo>
                <a:lnTo>
                  <a:pt x="0" y="317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656463" y="2809113"/>
            <a:ext cx="77724" cy="2535174"/>
            <a:chOff x="0" y="0"/>
            <a:chExt cx="103632" cy="33802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632" cy="3380232"/>
            </a:xfrm>
            <a:custGeom>
              <a:avLst/>
              <a:gdLst/>
              <a:ahLst/>
              <a:cxnLst/>
              <a:rect l="l" t="t" r="r" b="b"/>
              <a:pathLst>
                <a:path w="103632" h="3380232">
                  <a:moveTo>
                    <a:pt x="0" y="0"/>
                  </a:moveTo>
                  <a:lnTo>
                    <a:pt x="103632" y="0"/>
                  </a:lnTo>
                  <a:lnTo>
                    <a:pt x="103632" y="3380232"/>
                  </a:lnTo>
                  <a:lnTo>
                    <a:pt x="0" y="338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4409313" y="2809875"/>
            <a:ext cx="77724" cy="1943100"/>
          </a:xfrm>
          <a:custGeom>
            <a:avLst/>
            <a:gdLst/>
            <a:ahLst/>
            <a:cxnLst/>
            <a:rect l="l" t="t" r="r" b="b"/>
            <a:pathLst>
              <a:path w="77724" h="1943100">
                <a:moveTo>
                  <a:pt x="0" y="0"/>
                </a:moveTo>
                <a:lnTo>
                  <a:pt x="77724" y="0"/>
                </a:lnTo>
                <a:lnTo>
                  <a:pt x="77724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266938" y="2809875"/>
            <a:ext cx="77724" cy="1943100"/>
          </a:xfrm>
          <a:custGeom>
            <a:avLst/>
            <a:gdLst/>
            <a:ahLst/>
            <a:cxnLst/>
            <a:rect l="l" t="t" r="r" b="b"/>
            <a:pathLst>
              <a:path w="77724" h="1943100">
                <a:moveTo>
                  <a:pt x="0" y="0"/>
                </a:moveTo>
                <a:lnTo>
                  <a:pt x="77724" y="0"/>
                </a:lnTo>
                <a:lnTo>
                  <a:pt x="77724" y="1943100"/>
                </a:lnTo>
                <a:lnTo>
                  <a:pt x="0" y="1943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59209" y="4860427"/>
            <a:ext cx="380467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WITH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5804" y="3869827"/>
            <a:ext cx="2789825" cy="72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Temporarily name complex queries to improve readability, modularity and multi- step analysis.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1540" y="5755777"/>
            <a:ext cx="4358249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Advanced SQL enables reusable, modular and row-level analysis.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07591" y="4269877"/>
            <a:ext cx="953091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CREATE VIEW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94187" y="3526927"/>
            <a:ext cx="2883141" cy="467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Store reusable queries as virtual tables for simplified and consistent data access.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69236" y="4269877"/>
            <a:ext cx="502682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RANK()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83481" y="4269877"/>
            <a:ext cx="387344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 spc="2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LAG()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55831" y="3526927"/>
            <a:ext cx="2815133" cy="467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Perform calculations across related rows without collapsing the result.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4944" y="859927"/>
            <a:ext cx="1382344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06 | ADVANCED SQL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1540" y="1253966"/>
            <a:ext cx="6420945" cy="6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9"/>
              </a:lnSpc>
            </a:pPr>
            <a:r>
              <a:rPr lang="en-US" sz="372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Advanced SQL Techniques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4523" y="2067858"/>
            <a:ext cx="47158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1540" y="2067858"/>
            <a:ext cx="5379377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CTEs,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Views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and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Window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Functions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for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advanced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data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analysis.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5804" y="3072708"/>
            <a:ext cx="2297411" cy="7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23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Common Table Expressions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94187" y="3034608"/>
            <a:ext cx="839410" cy="38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23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Views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55831" y="3034608"/>
            <a:ext cx="2736361" cy="38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23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Window Functions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3503" y="-63503"/>
            <a:ext cx="12318997" cy="6984997"/>
          </a:xfrm>
          <a:custGeom>
            <a:avLst/>
            <a:gdLst/>
            <a:ahLst/>
            <a:cxnLst/>
            <a:rect l="l" t="t" r="r" b="b"/>
            <a:pathLst>
              <a:path w="12318997" h="6984997">
                <a:moveTo>
                  <a:pt x="0" y="0"/>
                </a:moveTo>
                <a:lnTo>
                  <a:pt x="12318997" y="0"/>
                </a:lnTo>
                <a:lnTo>
                  <a:pt x="12318997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59209" y="2764927"/>
            <a:ext cx="171593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5804" y="4307977"/>
            <a:ext cx="2732551" cy="72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Most initiated rides are successfully completed, indicating strong overall ride execution.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45088" y="2764927"/>
            <a:ext cx="171593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31684" y="4317502"/>
            <a:ext cx="2652246" cy="467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Completed rides generated substantial revenue across the analysed dataset.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31111" y="2764927"/>
            <a:ext cx="171593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481C9E"/>
                </a:solidFill>
                <a:latin typeface="Heebo Light"/>
                <a:ea typeface="Heebo Light"/>
                <a:cs typeface="Heebo Light"/>
                <a:sym typeface="Heebo Light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1540" y="5803402"/>
            <a:ext cx="10064277" cy="22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Overall observation:</a:t>
            </a: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The SQL analysis converts raw ride and transaction records into measurable indicators of operational and revenue performance.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17706" y="4307977"/>
            <a:ext cx="2799959" cy="72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The average completed ride provides a useful benchmark for understanding fare value.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4944" y="802777"/>
            <a:ext cx="992867" cy="21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KEY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1540" y="1196816"/>
            <a:ext cx="3404711" cy="6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9"/>
              </a:lnSpc>
            </a:pPr>
            <a:r>
              <a:rPr lang="en-US" sz="372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KEY INSIGHTS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2106" y="2020233"/>
            <a:ext cx="47158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5804" y="3938892"/>
            <a:ext cx="2542880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Ride completion rate: 84.67%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1540" y="2020233"/>
            <a:ext cx="3405969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SQL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results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turned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into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key</a:t>
            </a:r>
            <a:r>
              <a:rPr lang="en-US" sz="1488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observations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31684" y="3938892"/>
            <a:ext cx="1948224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Total revenue: $3.84M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17706" y="3938892"/>
            <a:ext cx="1930794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Average fare: $100.67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5804" y="3167958"/>
            <a:ext cx="1891798" cy="7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23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Operational Performance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1684" y="3167958"/>
            <a:ext cx="1891798" cy="7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23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Revenue Performance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17706" y="3167958"/>
            <a:ext cx="2406558" cy="7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23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Customer / Ride Value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3503" y="-63503"/>
            <a:ext cx="12318997" cy="6984997"/>
          </a:xfrm>
          <a:custGeom>
            <a:avLst/>
            <a:gdLst/>
            <a:ahLst/>
            <a:cxnLst/>
            <a:rect l="l" t="t" r="r" b="b"/>
            <a:pathLst>
              <a:path w="12318997" h="6984997">
                <a:moveTo>
                  <a:pt x="0" y="0"/>
                </a:moveTo>
                <a:lnTo>
                  <a:pt x="12318997" y="0"/>
                </a:lnTo>
                <a:lnTo>
                  <a:pt x="12318997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61540" y="556298"/>
            <a:ext cx="4907156" cy="60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4"/>
              </a:lnSpc>
            </a:pPr>
            <a:r>
              <a:rPr lang="en-US" sz="3546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Comparative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19061" y="1524743"/>
            <a:ext cx="44939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1449" y="1524743"/>
            <a:ext cx="406584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Rank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1449" y="2039093"/>
            <a:ext cx="102270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1449" y="2553443"/>
            <a:ext cx="102270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1449" y="3067793"/>
            <a:ext cx="102270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449" y="3582143"/>
            <a:ext cx="102270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449" y="4096493"/>
            <a:ext cx="102270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41166" y="1524743"/>
            <a:ext cx="308553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41166" y="2039093"/>
            <a:ext cx="877186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Hyderabad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41166" y="2553443"/>
            <a:ext cx="666398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Mumbai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41166" y="3067793"/>
            <a:ext cx="607038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Kolkata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41166" y="3582143"/>
            <a:ext cx="411690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Pune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41166" y="4096493"/>
            <a:ext cx="401812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Delhi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6880" y="4772768"/>
            <a:ext cx="3638407" cy="850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1418" b="1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Highest:</a:t>
            </a:r>
            <a:r>
              <a:rPr lang="en-US" sz="1418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Hyderabad — 4,883 completed rides </a:t>
            </a:r>
            <a:r>
              <a:rPr lang="en-US" sz="1418" b="1">
                <a:solidFill>
                  <a:srgbClr val="FFFFFF"/>
                </a:solidFill>
                <a:latin typeface="Heebo Bold"/>
                <a:ea typeface="Heebo Bold"/>
                <a:cs typeface="Heebo Bold"/>
                <a:sym typeface="Heebo Bold"/>
              </a:rPr>
              <a:t>Lowest:</a:t>
            </a:r>
            <a:r>
              <a:rPr lang="en-US" sz="1418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Delhi — 3,657 completed rides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53563" y="1524743"/>
            <a:ext cx="1377829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Completed</a:t>
            </a:r>
            <a:r>
              <a:rPr lang="en-US" sz="1418">
                <a:solidFill>
                  <a:srgbClr val="FFFFFF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Rides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53563" y="2039093"/>
            <a:ext cx="444522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4,883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53563" y="2553443"/>
            <a:ext cx="444522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4,469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53563" y="3067793"/>
            <a:ext cx="444522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4,218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53563" y="3582143"/>
            <a:ext cx="444522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4,000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53563" y="4096493"/>
            <a:ext cx="444522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3,657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1540" y="6020543"/>
            <a:ext cx="8624078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Hyderabad records the highest completed-ride volume, while Delhi records the lowest among the five cities.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50904" y="1524743"/>
            <a:ext cx="854669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Gap vs. #1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50904" y="2039093"/>
            <a:ext cx="102270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50904" y="2553443"/>
            <a:ext cx="306762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414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50904" y="3067793"/>
            <a:ext cx="306762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665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50904" y="3582143"/>
            <a:ext cx="306762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883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50904" y="4096493"/>
            <a:ext cx="444522" cy="2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41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1,226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" y="0"/>
            <a:ext cx="12193524" cy="6858000"/>
          </a:xfrm>
          <a:custGeom>
            <a:avLst/>
            <a:gdLst/>
            <a:ahLst/>
            <a:cxnLst/>
            <a:rect l="l" t="t" r="r" b="b"/>
            <a:pathLst>
              <a:path w="12193524" h="6858000">
                <a:moveTo>
                  <a:pt x="0" y="0"/>
                </a:moveTo>
                <a:lnTo>
                  <a:pt x="12193524" y="0"/>
                </a:lnTo>
                <a:lnTo>
                  <a:pt x="1219352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10" y="4572"/>
            <a:ext cx="12184380" cy="6848856"/>
            <a:chOff x="0" y="0"/>
            <a:chExt cx="16245840" cy="9131808"/>
          </a:xfrm>
        </p:grpSpPr>
        <p:sp>
          <p:nvSpPr>
            <p:cNvPr id="4" name="Freeform 4"/>
            <p:cNvSpPr/>
            <p:nvPr/>
          </p:nvSpPr>
          <p:spPr>
            <a:xfrm>
              <a:off x="1270" y="254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" t="-2" r="-7" b="-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762" y="0"/>
            <a:ext cx="12193524" cy="6858000"/>
          </a:xfrm>
          <a:custGeom>
            <a:avLst/>
            <a:gdLst/>
            <a:ahLst/>
            <a:cxnLst/>
            <a:rect l="l" t="t" r="r" b="b"/>
            <a:pathLst>
              <a:path w="12193524" h="6858000">
                <a:moveTo>
                  <a:pt x="0" y="0"/>
                </a:moveTo>
                <a:lnTo>
                  <a:pt x="12193524" y="0"/>
                </a:lnTo>
                <a:lnTo>
                  <a:pt x="1219352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62997" y="1438361"/>
            <a:ext cx="3515868" cy="4629150"/>
            <a:chOff x="0" y="0"/>
            <a:chExt cx="4687824" cy="6172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87824" cy="6172200"/>
            </a:xfrm>
            <a:custGeom>
              <a:avLst/>
              <a:gdLst/>
              <a:ahLst/>
              <a:cxnLst/>
              <a:rect l="l" t="t" r="r" b="b"/>
              <a:pathLst>
                <a:path w="4687824" h="6172200">
                  <a:moveTo>
                    <a:pt x="0" y="0"/>
                  </a:moveTo>
                  <a:lnTo>
                    <a:pt x="4687824" y="0"/>
                  </a:lnTo>
                  <a:lnTo>
                    <a:pt x="4687824" y="6172200"/>
                  </a:lnTo>
                  <a:lnTo>
                    <a:pt x="0" y="617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0" t="-123" r="-130" b="-12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641985" y="1384364"/>
            <a:ext cx="3554730" cy="4670298"/>
          </a:xfrm>
          <a:custGeom>
            <a:avLst/>
            <a:gdLst/>
            <a:ahLst/>
            <a:cxnLst/>
            <a:rect l="l" t="t" r="r" b="b"/>
            <a:pathLst>
              <a:path w="3554730" h="4670298">
                <a:moveTo>
                  <a:pt x="0" y="0"/>
                </a:moveTo>
                <a:lnTo>
                  <a:pt x="3554730" y="0"/>
                </a:lnTo>
                <a:lnTo>
                  <a:pt x="3554730" y="4670298"/>
                </a:lnTo>
                <a:lnTo>
                  <a:pt x="0" y="4670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338066" y="1404938"/>
            <a:ext cx="3515868" cy="4629150"/>
            <a:chOff x="0" y="0"/>
            <a:chExt cx="4687824" cy="6172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87824" cy="6172200"/>
            </a:xfrm>
            <a:custGeom>
              <a:avLst/>
              <a:gdLst/>
              <a:ahLst/>
              <a:cxnLst/>
              <a:rect l="l" t="t" r="r" b="b"/>
              <a:pathLst>
                <a:path w="4687824" h="6172200">
                  <a:moveTo>
                    <a:pt x="0" y="0"/>
                  </a:moveTo>
                  <a:lnTo>
                    <a:pt x="4687824" y="0"/>
                  </a:lnTo>
                  <a:lnTo>
                    <a:pt x="4687824" y="6172200"/>
                  </a:lnTo>
                  <a:lnTo>
                    <a:pt x="0" y="617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30" t="-123" r="-130" b="-123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4318635" y="1384364"/>
            <a:ext cx="3554730" cy="4670298"/>
          </a:xfrm>
          <a:custGeom>
            <a:avLst/>
            <a:gdLst/>
            <a:ahLst/>
            <a:cxnLst/>
            <a:rect l="l" t="t" r="r" b="b"/>
            <a:pathLst>
              <a:path w="3554730" h="4670298">
                <a:moveTo>
                  <a:pt x="0" y="0"/>
                </a:moveTo>
                <a:lnTo>
                  <a:pt x="3554730" y="0"/>
                </a:lnTo>
                <a:lnTo>
                  <a:pt x="3554730" y="4670298"/>
                </a:lnTo>
                <a:lnTo>
                  <a:pt x="0" y="4670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8014716" y="1404938"/>
            <a:ext cx="3515868" cy="4629150"/>
            <a:chOff x="0" y="0"/>
            <a:chExt cx="4687824" cy="6172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87824" cy="6172200"/>
            </a:xfrm>
            <a:custGeom>
              <a:avLst/>
              <a:gdLst/>
              <a:ahLst/>
              <a:cxnLst/>
              <a:rect l="l" t="t" r="r" b="b"/>
              <a:pathLst>
                <a:path w="4687824" h="6172200">
                  <a:moveTo>
                    <a:pt x="0" y="0"/>
                  </a:moveTo>
                  <a:lnTo>
                    <a:pt x="4687824" y="0"/>
                  </a:lnTo>
                  <a:lnTo>
                    <a:pt x="4687824" y="6172200"/>
                  </a:lnTo>
                  <a:lnTo>
                    <a:pt x="0" y="617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30" t="-123" r="-130" b="-123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7995285" y="1384364"/>
            <a:ext cx="3554730" cy="4670298"/>
          </a:xfrm>
          <a:custGeom>
            <a:avLst/>
            <a:gdLst/>
            <a:ahLst/>
            <a:cxnLst/>
            <a:rect l="l" t="t" r="r" b="b"/>
            <a:pathLst>
              <a:path w="3554730" h="4670298">
                <a:moveTo>
                  <a:pt x="0" y="0"/>
                </a:moveTo>
                <a:lnTo>
                  <a:pt x="3554730" y="0"/>
                </a:lnTo>
                <a:lnTo>
                  <a:pt x="3554730" y="4670298"/>
                </a:lnTo>
                <a:lnTo>
                  <a:pt x="0" y="4670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56463" y="6266688"/>
            <a:ext cx="10879074" cy="20574"/>
          </a:xfrm>
          <a:custGeom>
            <a:avLst/>
            <a:gdLst/>
            <a:ahLst/>
            <a:cxnLst/>
            <a:rect l="l" t="t" r="r" b="b"/>
            <a:pathLst>
              <a:path w="10879074" h="20574">
                <a:moveTo>
                  <a:pt x="0" y="0"/>
                </a:moveTo>
                <a:lnTo>
                  <a:pt x="10879074" y="0"/>
                </a:lnTo>
                <a:lnTo>
                  <a:pt x="10879074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289544" y="567414"/>
            <a:ext cx="5725087" cy="59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1"/>
              </a:lnSpc>
            </a:pPr>
            <a:r>
              <a:rPr lang="en-US" sz="3429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FROM DATA TO INSIGHTS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5191" y="1741065"/>
            <a:ext cx="2823877" cy="80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7"/>
              </a:lnSpc>
            </a:pPr>
            <a:r>
              <a:rPr lang="en-US" sz="1714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Operational Performance</a:t>
            </a:r>
          </a:p>
          <a:p>
            <a:pPr algn="l">
              <a:lnSpc>
                <a:spcPts val="2366"/>
              </a:lnSpc>
            </a:pPr>
            <a:endParaRPr lang="en-US" sz="4733" dirty="0">
              <a:solidFill>
                <a:srgbClr val="DCD7E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366"/>
              </a:lnSpc>
            </a:pPr>
            <a:r>
              <a:rPr lang="en-US" sz="4733" dirty="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84.67%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21698" y="1617240"/>
            <a:ext cx="2395528" cy="1457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14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Revenue &amp; Customer Behaviour</a:t>
            </a:r>
          </a:p>
          <a:p>
            <a:pPr algn="l">
              <a:lnSpc>
                <a:spcPts val="6006"/>
              </a:lnSpc>
            </a:pPr>
            <a:r>
              <a:rPr lang="en-US" sz="4733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$100.67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1703" y="2769213"/>
            <a:ext cx="43472" cy="249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12049" y="3035913"/>
            <a:ext cx="43472" cy="249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98196" y="1617240"/>
            <a:ext cx="3167482" cy="420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2"/>
              </a:lnSpc>
            </a:pPr>
            <a:r>
              <a:rPr lang="en-US" sz="1714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Geographic Performance</a:t>
            </a:r>
          </a:p>
          <a:p>
            <a:pPr algn="l">
              <a:lnSpc>
                <a:spcPts val="5888"/>
              </a:lnSpc>
            </a:pPr>
            <a:r>
              <a:rPr lang="en-US" sz="4733" spc="28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4,883 Rides (Hyderaba d)</a:t>
            </a:r>
            <a:r>
              <a:rPr lang="en-US" sz="4733" spc="28">
                <a:solidFill>
                  <a:srgbClr val="DCD7E5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</a:p>
          <a:p>
            <a:pPr algn="l">
              <a:lnSpc>
                <a:spcPts val="2149"/>
              </a:lnSpc>
            </a:pP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Hyderabad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leads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in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completed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ride volume, highlightingakeyregional market strengthforfocusedgrowth.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191" y="2769213"/>
            <a:ext cx="2862901" cy="249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High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ride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completion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signifies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strong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191" y="3016863"/>
            <a:ext cx="2978658" cy="53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operational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execution,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minimizing revenue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loss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from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unfulfilled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requests.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21698" y="3035913"/>
            <a:ext cx="2855500" cy="249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Theaveragefarepercompletedride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21698" y="3283563"/>
            <a:ext cx="2868559" cy="811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provides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useful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benchmark</a:t>
            </a:r>
            <a:r>
              <a:rPr lang="en-US" sz="1371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  <a:r>
              <a:rPr lang="en-US" sz="137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for understandingridevalueandpricing strategy.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63503" y="-63503"/>
            <a:ext cx="12318997" cy="6984997"/>
          </a:xfrm>
          <a:custGeom>
            <a:avLst/>
            <a:gdLst/>
            <a:ahLst/>
            <a:cxnLst/>
            <a:rect l="l" t="t" r="r" b="b"/>
            <a:pathLst>
              <a:path w="12318997" h="6984997">
                <a:moveTo>
                  <a:pt x="0" y="0"/>
                </a:moveTo>
                <a:lnTo>
                  <a:pt x="12318997" y="0"/>
                </a:lnTo>
                <a:lnTo>
                  <a:pt x="12318997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921641" y="568166"/>
            <a:ext cx="6475409" cy="6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9"/>
              </a:lnSpc>
            </a:pPr>
            <a:r>
              <a:rPr lang="en-US" sz="3720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Future Scope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1540" y="1601400"/>
            <a:ext cx="3610394" cy="51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Project 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6822" y="2258358"/>
            <a:ext cx="47158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36059" y="1601400"/>
            <a:ext cx="2581285" cy="51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84930" y="2258358"/>
            <a:ext cx="47158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5061" y="2258358"/>
            <a:ext cx="4443355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Analyzedinterconnectedmobilitydatafrom 8 tables.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5061" y="3925233"/>
            <a:ext cx="4547959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Applied advanced SQL techniques for deeper insights.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5061" y="2915583"/>
            <a:ext cx="4863313" cy="582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Identified patterns in rides, revenue, cities, payments, and campaigns.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19580" y="4296708"/>
            <a:ext cx="3408950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Enhance driver performance monitoring.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19580" y="4982508"/>
            <a:ext cx="3589087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Automate key reporting and alert systems.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19580" y="3620433"/>
            <a:ext cx="3681632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Perform advanced customer segmentation.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19580" y="2258358"/>
            <a:ext cx="3710702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Developreal-timeperformance dashboards.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19580" y="2944158"/>
            <a:ext cx="4668260" cy="2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Implement predictive analytics for demand forecasting.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" y="4762"/>
            <a:ext cx="12182475" cy="6848475"/>
            <a:chOff x="0" y="0"/>
            <a:chExt cx="16243300" cy="9131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43300" cy="9131300"/>
            </a:xfrm>
            <a:custGeom>
              <a:avLst/>
              <a:gdLst/>
              <a:ahLst/>
              <a:cxnLst/>
              <a:rect l="l" t="t" r="r" b="b"/>
              <a:pathLst>
                <a:path w="16243300" h="9131300">
                  <a:moveTo>
                    <a:pt x="0" y="0"/>
                  </a:moveTo>
                  <a:lnTo>
                    <a:pt x="16243300" y="0"/>
                  </a:lnTo>
                  <a:lnTo>
                    <a:pt x="162433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" t="-119" r="-39" b="-1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D0A2C">
                <a:alpha val="89804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D0A2C">
                <a:alpha val="63922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753791" y="561499"/>
            <a:ext cx="8857831" cy="464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05"/>
              </a:lnSpc>
            </a:pPr>
            <a:r>
              <a:rPr lang="en-US" sz="11162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</a:p>
          <a:p>
            <a:pPr algn="ctr">
              <a:lnSpc>
                <a:spcPts val="3719"/>
              </a:lnSpc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Questions &amp; Discussion</a:t>
            </a:r>
          </a:p>
          <a:p>
            <a:pPr algn="ctr">
              <a:lnSpc>
                <a:spcPts val="3719"/>
              </a:lnSpc>
              <a:spcBef>
                <a:spcPts val="330"/>
              </a:spcBef>
            </a:pPr>
            <a:r>
              <a:rPr lang="en-US" sz="1488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Presented by Ananya Gadodia | Data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1274</Words>
  <Application>Microsoft Office PowerPoint</Application>
  <PresentationFormat>Widescreen</PresentationFormat>
  <Paragraphs>284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Heebo Light</vt:lpstr>
      <vt:lpstr>Calibri</vt:lpstr>
      <vt:lpstr>Heebo</vt:lpstr>
      <vt:lpstr>Montserrat Light</vt:lpstr>
      <vt:lpstr>Noto Sans</vt:lpstr>
      <vt:lpstr>Open Sans</vt:lpstr>
      <vt:lpstr>Montserrat</vt:lpstr>
      <vt:lpstr>Heebo Bold</vt:lpstr>
      <vt:lpstr>Heebo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Ananya Gadodia</dc:creator>
  <cp:lastModifiedBy>Ananya Gadodia</cp:lastModifiedBy>
  <cp:revision>2</cp:revision>
  <dcterms:created xsi:type="dcterms:W3CDTF">2006-08-16T00:00:00Z</dcterms:created>
  <dcterms:modified xsi:type="dcterms:W3CDTF">2026-09-11T08:03:51Z</dcterms:modified>
  <dc:identifier>DAHU313Md54</dc:identifier>
</cp:coreProperties>
</file>